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VG 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VG circle"/>
          <p:cNvSpPr/>
          <p:nvPr/>
        </p:nvSpPr>
        <p:spPr>
          <a:xfrm>
            <a:off x="9144000" y="0"/>
            <a:ext cx="3048000" cy="30480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VG circle"/>
          <p:cNvSpPr/>
          <p:nvPr/>
        </p:nvSpPr>
        <p:spPr>
          <a:xfrm>
            <a:off x="8229600" y="2895600"/>
            <a:ext cx="3962400" cy="39624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SVG line"/>
          <p:cNvCxnSpPr/>
          <p:nvPr/>
        </p:nvCxnSpPr>
        <p:spPr>
          <a:xfrm>
            <a:off x="731520" y="1249680"/>
            <a:ext cx="0" cy="899160"/>
          </a:xfrm>
          <a:prstGeom prst="line">
            <a:avLst/>
          </a:prstGeom>
          <a:ln w="76200">
            <a:solidFill>
              <a:srgbClr val="2563EB"/>
            </a:solidFill>
          </a:ln>
        </p:spPr>
      </p:cxnSp>
      <p:sp>
        <p:nvSpPr>
          <p:cNvPr id="6" name="SVG text 1"/>
          <p:cNvSpPr txBox="1"/>
          <p:nvPr/>
        </p:nvSpPr>
        <p:spPr>
          <a:xfrm>
            <a:off x="1036320" y="1265225"/>
            <a:ext cx="478864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80" b="1" i="0">
                <a:solidFill>
                  <a:srgbClr val="0F172A"/>
                </a:solidFill>
                <a:latin typeface="Microsoft YaHei"/>
              </a:rPr>
              <a:t>VectorDeckPPT</a:t>
            </a:r>
          </a:p>
        </p:txBody>
      </p:sp>
      <p:sp>
        <p:nvSpPr>
          <p:cNvPr id="7" name="SVG text 1"/>
          <p:cNvSpPr txBox="1"/>
          <p:nvPr/>
        </p:nvSpPr>
        <p:spPr>
          <a:xfrm>
            <a:off x="1036320" y="2116531"/>
            <a:ext cx="311139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475569"/>
                </a:solidFill>
                <a:latin typeface="Microsoft YaHei"/>
              </a:rPr>
              <a:t>AI 负责设计，代码保证交付</a:t>
            </a:r>
          </a:p>
        </p:txBody>
      </p:sp>
      <p:sp>
        <p:nvSpPr>
          <p:cNvPr id="8" name="SVG text 1"/>
          <p:cNvSpPr txBox="1"/>
          <p:nvPr/>
        </p:nvSpPr>
        <p:spPr>
          <a:xfrm>
            <a:off x="1036320" y="4772558"/>
            <a:ext cx="238292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475569"/>
                </a:solidFill>
                <a:latin typeface="Microsoft YaHei"/>
              </a:rPr>
              <a:t>Vector-first Agent Skill</a:t>
            </a:r>
          </a:p>
        </p:txBody>
      </p:sp>
      <p:sp>
        <p:nvSpPr>
          <p:cNvPr id="9" name="SVG text 1"/>
          <p:cNvSpPr txBox="1"/>
          <p:nvPr/>
        </p:nvSpPr>
        <p:spPr>
          <a:xfrm>
            <a:off x="1036320" y="5139080"/>
            <a:ext cx="2823210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94A3B8"/>
                </a:solidFill>
                <a:latin typeface="Arial"/>
              </a:rPr>
              <a:t>Structured SVG → editable PowerPoint</a:t>
            </a:r>
          </a:p>
        </p:txBody>
      </p:sp>
      <p:sp>
        <p:nvSpPr>
          <p:cNvPr id="10" name="SVG text 1"/>
          <p:cNvSpPr txBox="1"/>
          <p:nvPr/>
        </p:nvSpPr>
        <p:spPr>
          <a:xfrm>
            <a:off x="10974934" y="6196889"/>
            <a:ext cx="496519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94A3B8"/>
                </a:solidFill>
                <a:latin typeface="Arial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VG 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VG text 1"/>
          <p:cNvSpPr txBox="1"/>
          <p:nvPr/>
        </p:nvSpPr>
        <p:spPr>
          <a:xfrm>
            <a:off x="731520" y="635203"/>
            <a:ext cx="6493264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0F172A"/>
                </a:solidFill>
                <a:latin typeface="Microsoft YaHei"/>
              </a:rPr>
              <a:t>AI 负责设计，确定性工具负责把关</a:t>
            </a:r>
          </a:p>
        </p:txBody>
      </p:sp>
      <p:sp>
        <p:nvSpPr>
          <p:cNvPr id="4" name="SVG text 1"/>
          <p:cNvSpPr txBox="1"/>
          <p:nvPr/>
        </p:nvSpPr>
        <p:spPr>
          <a:xfrm>
            <a:off x="731520" y="1227887"/>
            <a:ext cx="617791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475569"/>
                </a:solidFill>
                <a:latin typeface="Microsoft YaHei"/>
              </a:rPr>
              <a:t>内容推理与视觉判断留在宿主 Agent；脚本只执行可重复的验证、渲染和编译。</a:t>
            </a:r>
          </a:p>
        </p:txBody>
      </p:sp>
      <p:cxnSp>
        <p:nvCxnSpPr>
          <p:cNvPr id="5" name="SVG line"/>
          <p:cNvCxnSpPr/>
          <p:nvPr/>
        </p:nvCxnSpPr>
        <p:spPr>
          <a:xfrm>
            <a:off x="1737360" y="3413760"/>
            <a:ext cx="8717280" cy="0"/>
          </a:xfrm>
          <a:prstGeom prst="line">
            <a:avLst/>
          </a:prstGeom>
          <a:ln w="45720">
            <a:solidFill>
              <a:srgbClr val="CBD5E1"/>
            </a:solidFill>
          </a:ln>
        </p:spPr>
      </p:cxnSp>
      <p:cxnSp>
        <p:nvCxnSpPr>
          <p:cNvPr id="6" name="SVG line"/>
          <p:cNvCxnSpPr/>
          <p:nvPr/>
        </p:nvCxnSpPr>
        <p:spPr>
          <a:xfrm>
            <a:off x="2072640" y="3413760"/>
            <a:ext cx="1767840" cy="0"/>
          </a:xfrm>
          <a:prstGeom prst="line">
            <a:avLst/>
          </a:prstGeom>
          <a:ln w="45720">
            <a:solidFill>
              <a:srgbClr val="2563EB"/>
            </a:solidFill>
          </a:ln>
        </p:spPr>
      </p:cxnSp>
      <p:cxnSp>
        <p:nvCxnSpPr>
          <p:cNvPr id="7" name="SVG line"/>
          <p:cNvCxnSpPr/>
          <p:nvPr/>
        </p:nvCxnSpPr>
        <p:spPr>
          <a:xfrm>
            <a:off x="4511040" y="3413760"/>
            <a:ext cx="1767840" cy="0"/>
          </a:xfrm>
          <a:prstGeom prst="line">
            <a:avLst/>
          </a:prstGeom>
          <a:ln w="45720">
            <a:solidFill>
              <a:srgbClr val="2563EB"/>
            </a:solidFill>
          </a:ln>
        </p:spPr>
      </p:cxnSp>
      <p:cxnSp>
        <p:nvCxnSpPr>
          <p:cNvPr id="8" name="SVG line"/>
          <p:cNvCxnSpPr/>
          <p:nvPr/>
        </p:nvCxnSpPr>
        <p:spPr>
          <a:xfrm>
            <a:off x="6949440" y="3413760"/>
            <a:ext cx="1767840" cy="0"/>
          </a:xfrm>
          <a:prstGeom prst="line">
            <a:avLst/>
          </a:prstGeom>
          <a:ln w="45720">
            <a:solidFill>
              <a:srgbClr val="7C3AED"/>
            </a:solidFill>
          </a:ln>
        </p:spPr>
      </p:cxnSp>
      <p:sp>
        <p:nvSpPr>
          <p:cNvPr id="9" name="SVG circle"/>
          <p:cNvSpPr/>
          <p:nvPr/>
        </p:nvSpPr>
        <p:spPr>
          <a:xfrm>
            <a:off x="1249680" y="2926080"/>
            <a:ext cx="975360" cy="975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VG circle"/>
          <p:cNvSpPr/>
          <p:nvPr/>
        </p:nvSpPr>
        <p:spPr>
          <a:xfrm>
            <a:off x="3688080" y="2926080"/>
            <a:ext cx="975360" cy="97536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2563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VG circle"/>
          <p:cNvSpPr/>
          <p:nvPr/>
        </p:nvSpPr>
        <p:spPr>
          <a:xfrm>
            <a:off x="6126480" y="2926080"/>
            <a:ext cx="975360" cy="97536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2563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VG circle"/>
          <p:cNvSpPr/>
          <p:nvPr/>
        </p:nvSpPr>
        <p:spPr>
          <a:xfrm>
            <a:off x="8564880" y="2926080"/>
            <a:ext cx="975360" cy="975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VG text 1"/>
          <p:cNvSpPr txBox="1"/>
          <p:nvPr/>
        </p:nvSpPr>
        <p:spPr>
          <a:xfrm>
            <a:off x="1581083" y="3307994"/>
            <a:ext cx="333281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39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4" name="SVG text 1"/>
          <p:cNvSpPr txBox="1"/>
          <p:nvPr/>
        </p:nvSpPr>
        <p:spPr>
          <a:xfrm>
            <a:off x="4019483" y="3307994"/>
            <a:ext cx="333281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39" b="1" i="0">
                <a:solidFill>
                  <a:srgbClr val="2563EB"/>
                </a:solidFill>
                <a:latin typeface="Arial"/>
              </a:rPr>
              <a:t>02</a:t>
            </a:r>
          </a:p>
        </p:txBody>
      </p:sp>
      <p:sp>
        <p:nvSpPr>
          <p:cNvPr id="15" name="SVG text 1"/>
          <p:cNvSpPr txBox="1"/>
          <p:nvPr/>
        </p:nvSpPr>
        <p:spPr>
          <a:xfrm>
            <a:off x="6457883" y="3307994"/>
            <a:ext cx="333281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39" b="1" i="0">
                <a:solidFill>
                  <a:srgbClr val="2563EB"/>
                </a:solidFill>
                <a:latin typeface="Arial"/>
              </a:rPr>
              <a:t>03</a:t>
            </a:r>
          </a:p>
        </p:txBody>
      </p:sp>
      <p:sp>
        <p:nvSpPr>
          <p:cNvPr id="16" name="SVG text 1"/>
          <p:cNvSpPr txBox="1"/>
          <p:nvPr/>
        </p:nvSpPr>
        <p:spPr>
          <a:xfrm>
            <a:off x="8896283" y="3307994"/>
            <a:ext cx="333281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39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7" name="SVG text 1"/>
          <p:cNvSpPr txBox="1"/>
          <p:nvPr/>
        </p:nvSpPr>
        <p:spPr>
          <a:xfrm>
            <a:off x="1499616" y="4125468"/>
            <a:ext cx="493776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Microsoft YaHei"/>
              </a:rPr>
              <a:t>规划</a:t>
            </a:r>
          </a:p>
        </p:txBody>
      </p:sp>
      <p:sp>
        <p:nvSpPr>
          <p:cNvPr id="18" name="SVG text 1"/>
          <p:cNvSpPr txBox="1"/>
          <p:nvPr/>
        </p:nvSpPr>
        <p:spPr>
          <a:xfrm>
            <a:off x="1203960" y="4507992"/>
            <a:ext cx="10789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Microsoft YaHei"/>
              </a:rPr>
              <a:t>叙事与设计系统</a:t>
            </a:r>
          </a:p>
        </p:txBody>
      </p:sp>
      <p:sp>
        <p:nvSpPr>
          <p:cNvPr id="19" name="SVG text 1"/>
          <p:cNvSpPr txBox="1"/>
          <p:nvPr/>
        </p:nvSpPr>
        <p:spPr>
          <a:xfrm>
            <a:off x="3938016" y="4125468"/>
            <a:ext cx="493776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Microsoft YaHei"/>
              </a:rPr>
              <a:t>创作</a:t>
            </a:r>
          </a:p>
        </p:txBody>
      </p:sp>
      <p:sp>
        <p:nvSpPr>
          <p:cNvPr id="20" name="SVG text 1"/>
          <p:cNvSpPr txBox="1"/>
          <p:nvPr/>
        </p:nvSpPr>
        <p:spPr>
          <a:xfrm>
            <a:off x="3691890" y="4507992"/>
            <a:ext cx="97993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Microsoft YaHei"/>
              </a:rPr>
              <a:t>一页一个 SVG</a:t>
            </a:r>
          </a:p>
        </p:txBody>
      </p:sp>
      <p:sp>
        <p:nvSpPr>
          <p:cNvPr id="21" name="SVG text 1"/>
          <p:cNvSpPr txBox="1"/>
          <p:nvPr/>
        </p:nvSpPr>
        <p:spPr>
          <a:xfrm>
            <a:off x="6376416" y="4125468"/>
            <a:ext cx="493776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Microsoft YaHei"/>
              </a:rPr>
              <a:t>校验</a:t>
            </a:r>
          </a:p>
        </p:txBody>
      </p:sp>
      <p:sp>
        <p:nvSpPr>
          <p:cNvPr id="22" name="SVG text 1"/>
          <p:cNvSpPr txBox="1"/>
          <p:nvPr/>
        </p:nvSpPr>
        <p:spPr>
          <a:xfrm>
            <a:off x="6080760" y="4507992"/>
            <a:ext cx="10789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Microsoft YaHei"/>
              </a:rPr>
              <a:t>验证与视觉复审</a:t>
            </a:r>
          </a:p>
        </p:txBody>
      </p:sp>
      <p:sp>
        <p:nvSpPr>
          <p:cNvPr id="23" name="SVG text 1"/>
          <p:cNvSpPr txBox="1"/>
          <p:nvPr/>
        </p:nvSpPr>
        <p:spPr>
          <a:xfrm>
            <a:off x="8814816" y="4125468"/>
            <a:ext cx="493776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Microsoft YaHei"/>
              </a:rPr>
              <a:t>交付</a:t>
            </a:r>
          </a:p>
        </p:txBody>
      </p:sp>
      <p:sp>
        <p:nvSpPr>
          <p:cNvPr id="24" name="SVG text 1"/>
          <p:cNvSpPr txBox="1"/>
          <p:nvPr/>
        </p:nvSpPr>
        <p:spPr>
          <a:xfrm>
            <a:off x="8593836" y="4507992"/>
            <a:ext cx="9296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Microsoft YaHei"/>
              </a:rPr>
              <a:t>可编辑 PPTX</a:t>
            </a:r>
          </a:p>
        </p:txBody>
      </p:sp>
      <p:sp>
        <p:nvSpPr>
          <p:cNvPr id="25" name="SVG text 1"/>
          <p:cNvSpPr txBox="1"/>
          <p:nvPr/>
        </p:nvSpPr>
        <p:spPr>
          <a:xfrm>
            <a:off x="10974934" y="6196889"/>
            <a:ext cx="496519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94A3B8"/>
                </a:solidFill>
                <a:latin typeface="Arial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VG 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VG text 1"/>
          <p:cNvSpPr txBox="1"/>
          <p:nvPr/>
        </p:nvSpPr>
        <p:spPr>
          <a:xfrm>
            <a:off x="731520" y="635203"/>
            <a:ext cx="7449312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0F172A"/>
                </a:solidFill>
                <a:latin typeface="Microsoft YaHei"/>
              </a:rPr>
              <a:t>常用内容原生可编辑，复杂图形明确降级</a:t>
            </a:r>
          </a:p>
        </p:txBody>
      </p:sp>
      <p:sp>
        <p:nvSpPr>
          <p:cNvPr id="4" name="SVG text 1"/>
          <p:cNvSpPr txBox="1"/>
          <p:nvPr/>
        </p:nvSpPr>
        <p:spPr>
          <a:xfrm>
            <a:off x="731520" y="1227887"/>
            <a:ext cx="480212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475569"/>
                </a:solidFill>
                <a:latin typeface="Microsoft YaHei"/>
              </a:rPr>
              <a:t>编译报告会把 native、embedded_svg 与 failed 分开记录。</a:t>
            </a:r>
          </a:p>
        </p:txBody>
      </p:sp>
      <p:cxnSp>
        <p:nvCxnSpPr>
          <p:cNvPr id="5" name="SVG line"/>
          <p:cNvCxnSpPr/>
          <p:nvPr/>
        </p:nvCxnSpPr>
        <p:spPr>
          <a:xfrm>
            <a:off x="6096000" y="1905000"/>
            <a:ext cx="0" cy="3657600"/>
          </a:xfrm>
          <a:prstGeom prst="line">
            <a:avLst/>
          </a:prstGeom>
          <a:ln w="22860">
            <a:solidFill>
              <a:srgbClr val="E2E8F0"/>
            </a:solidFill>
          </a:ln>
        </p:spPr>
      </p:cxnSp>
      <p:sp>
        <p:nvSpPr>
          <p:cNvPr id="6" name="SVG circle"/>
          <p:cNvSpPr/>
          <p:nvPr/>
        </p:nvSpPr>
        <p:spPr>
          <a:xfrm>
            <a:off x="975360" y="211836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VG text 1"/>
          <p:cNvSpPr txBox="1"/>
          <p:nvPr/>
        </p:nvSpPr>
        <p:spPr>
          <a:xfrm>
            <a:off x="1493520" y="2205228"/>
            <a:ext cx="2245949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Microsoft YaHei"/>
              </a:rPr>
              <a:t>Native PowerPoint</a:t>
            </a:r>
          </a:p>
        </p:txBody>
      </p:sp>
      <p:sp>
        <p:nvSpPr>
          <p:cNvPr id="8" name="SVG text 1"/>
          <p:cNvSpPr txBox="1"/>
          <p:nvPr/>
        </p:nvSpPr>
        <p:spPr>
          <a:xfrm>
            <a:off x="731520" y="2800350"/>
            <a:ext cx="5867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4155"/>
                </a:solidFill>
                <a:latin typeface="Microsoft YaHei"/>
              </a:rPr>
              <a:t>文本框</a:t>
            </a:r>
          </a:p>
        </p:txBody>
      </p:sp>
      <p:sp>
        <p:nvSpPr>
          <p:cNvPr id="9" name="SVG text 1"/>
          <p:cNvSpPr txBox="1"/>
          <p:nvPr/>
        </p:nvSpPr>
        <p:spPr>
          <a:xfrm>
            <a:off x="2545080" y="2800350"/>
            <a:ext cx="9677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4155"/>
                </a:solidFill>
                <a:latin typeface="Microsoft YaHei"/>
              </a:rPr>
              <a:t>矩形与圆形</a:t>
            </a:r>
          </a:p>
        </p:txBody>
      </p:sp>
      <p:sp>
        <p:nvSpPr>
          <p:cNvPr id="10" name="SVG text 1"/>
          <p:cNvSpPr txBox="1"/>
          <p:nvPr/>
        </p:nvSpPr>
        <p:spPr>
          <a:xfrm>
            <a:off x="4450080" y="2800350"/>
            <a:ext cx="3962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4155"/>
                </a:solidFill>
                <a:latin typeface="Microsoft YaHei"/>
              </a:rPr>
              <a:t>直线</a:t>
            </a:r>
          </a:p>
        </p:txBody>
      </p:sp>
      <p:sp>
        <p:nvSpPr>
          <p:cNvPr id="11" name="SVG rect"/>
          <p:cNvSpPr/>
          <p:nvPr/>
        </p:nvSpPr>
        <p:spPr>
          <a:xfrm>
            <a:off x="731520" y="3230880"/>
            <a:ext cx="1249680" cy="7620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22860">
            <a:solidFill>
              <a:srgbClr val="BFDBF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VG text 1"/>
          <p:cNvSpPr txBox="1"/>
          <p:nvPr/>
        </p:nvSpPr>
        <p:spPr>
          <a:xfrm>
            <a:off x="899160" y="3553358"/>
            <a:ext cx="92903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D4ED8"/>
                </a:solidFill>
                <a:latin typeface="Microsoft YaHei"/>
              </a:rPr>
              <a:t>可编辑文字</a:t>
            </a:r>
          </a:p>
        </p:txBody>
      </p:sp>
      <p:sp>
        <p:nvSpPr>
          <p:cNvPr id="13" name="SVG rect"/>
          <p:cNvSpPr/>
          <p:nvPr/>
        </p:nvSpPr>
        <p:spPr>
          <a:xfrm>
            <a:off x="2545080" y="3230880"/>
            <a:ext cx="1310640" cy="76200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 w="22860">
            <a:solidFill>
              <a:srgbClr val="C4B5F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VG circle"/>
          <p:cNvSpPr/>
          <p:nvPr/>
        </p:nvSpPr>
        <p:spPr>
          <a:xfrm>
            <a:off x="4282440" y="3230880"/>
            <a:ext cx="762000" cy="762000"/>
          </a:xfrm>
          <a:prstGeom prst="ellipse">
            <a:avLst/>
          </a:prstGeom>
          <a:solidFill>
            <a:srgbClr val="DBEAFE"/>
          </a:solidFill>
          <a:ln w="22860">
            <a:solidFill>
              <a:srgbClr val="2563E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" name="SVG line"/>
          <p:cNvCxnSpPr/>
          <p:nvPr/>
        </p:nvCxnSpPr>
        <p:spPr>
          <a:xfrm>
            <a:off x="731520" y="4556760"/>
            <a:ext cx="4282440" cy="0"/>
          </a:xfrm>
          <a:prstGeom prst="line">
            <a:avLst/>
          </a:prstGeom>
          <a:ln w="38100">
            <a:solidFill>
              <a:srgbClr val="2563EB"/>
            </a:solidFill>
          </a:ln>
        </p:spPr>
      </p:cxnSp>
      <p:sp>
        <p:nvSpPr>
          <p:cNvPr id="16" name="SVG text 1"/>
          <p:cNvSpPr txBox="1"/>
          <p:nvPr/>
        </p:nvSpPr>
        <p:spPr>
          <a:xfrm>
            <a:off x="731520" y="4876495"/>
            <a:ext cx="3701491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4748B"/>
                </a:solidFill>
                <a:latin typeface="Microsoft YaHei"/>
              </a:rPr>
              <a:t>字体、颜色、位置、大小与图片裁剪均可继续调整</a:t>
            </a:r>
          </a:p>
        </p:txBody>
      </p:sp>
      <p:sp>
        <p:nvSpPr>
          <p:cNvPr id="17" name="SVG circle"/>
          <p:cNvSpPr/>
          <p:nvPr/>
        </p:nvSpPr>
        <p:spPr>
          <a:xfrm>
            <a:off x="6553200" y="211836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VG text 1"/>
          <p:cNvSpPr txBox="1"/>
          <p:nvPr/>
        </p:nvSpPr>
        <p:spPr>
          <a:xfrm>
            <a:off x="7071360" y="2205228"/>
            <a:ext cx="2486071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172A"/>
                </a:solidFill>
                <a:latin typeface="Microsoft YaHei"/>
              </a:rPr>
              <a:t>Office SVG fallback</a:t>
            </a:r>
          </a:p>
        </p:txBody>
      </p:sp>
      <p:sp>
        <p:nvSpPr>
          <p:cNvPr id="19" name="SVG text 1"/>
          <p:cNvSpPr txBox="1"/>
          <p:nvPr/>
        </p:nvSpPr>
        <p:spPr>
          <a:xfrm>
            <a:off x="6583680" y="2976982"/>
            <a:ext cx="2166957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334155"/>
                </a:solidFill>
                <a:latin typeface="Microsoft YaHei"/>
              </a:rPr>
              <a:t>复杂路径 · 渐变 · 旋转</a:t>
            </a:r>
          </a:p>
        </p:txBody>
      </p:sp>
      <p:sp>
        <p:nvSpPr>
          <p:cNvPr id="20" name="SVG rect"/>
          <p:cNvSpPr/>
          <p:nvPr/>
        </p:nvSpPr>
        <p:spPr>
          <a:xfrm>
            <a:off x="6583680" y="3520440"/>
            <a:ext cx="4434840" cy="899160"/>
          </a:xfrm>
          <a:prstGeom prst="roundRect">
            <a:avLst>
              <a:gd name="adj" fmla="val 20338"/>
            </a:avLst>
          </a:prstGeom>
          <a:solidFill>
            <a:srgbClr val="F5F3FF"/>
          </a:solidFill>
          <a:ln w="22860">
            <a:solidFill>
              <a:srgbClr val="DDD6F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VG text 1"/>
          <p:cNvSpPr txBox="1"/>
          <p:nvPr/>
        </p:nvSpPr>
        <p:spPr>
          <a:xfrm>
            <a:off x="7406030" y="3780587"/>
            <a:ext cx="280416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6D28D9"/>
                </a:solidFill>
                <a:latin typeface="Microsoft YaHei"/>
              </a:rPr>
              <a:t>PNG 兼容预览 + SVG 原始对象关系</a:t>
            </a:r>
          </a:p>
        </p:txBody>
      </p:sp>
      <p:sp>
        <p:nvSpPr>
          <p:cNvPr id="22" name="SVG text 1"/>
          <p:cNvSpPr txBox="1"/>
          <p:nvPr/>
        </p:nvSpPr>
        <p:spPr>
          <a:xfrm>
            <a:off x="7703820" y="4078529"/>
            <a:ext cx="220553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7C3AED"/>
                </a:solidFill>
                <a:latin typeface="Microsoft YaHei"/>
              </a:rPr>
              <a:t>外观保留，内部路径不承诺原生编辑</a:t>
            </a:r>
          </a:p>
        </p:txBody>
      </p:sp>
      <p:sp>
        <p:nvSpPr>
          <p:cNvPr id="23" name="SVG text 1"/>
          <p:cNvSpPr txBox="1"/>
          <p:nvPr/>
        </p:nvSpPr>
        <p:spPr>
          <a:xfrm>
            <a:off x="6583680" y="4876495"/>
            <a:ext cx="2695651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4748B"/>
                </a:solidFill>
                <a:latin typeface="Microsoft YaHei"/>
              </a:rPr>
              <a:t>无法转换的可见元素不会被静默丢弃</a:t>
            </a:r>
          </a:p>
        </p:txBody>
      </p:sp>
      <p:sp>
        <p:nvSpPr>
          <p:cNvPr id="24" name="SVG text 1"/>
          <p:cNvSpPr txBox="1"/>
          <p:nvPr/>
        </p:nvSpPr>
        <p:spPr>
          <a:xfrm>
            <a:off x="10974934" y="6196889"/>
            <a:ext cx="496519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94A3B8"/>
                </a:solidFill>
                <a:latin typeface="Arial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VG 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VG text 1"/>
          <p:cNvSpPr txBox="1"/>
          <p:nvPr/>
        </p:nvSpPr>
        <p:spPr>
          <a:xfrm>
            <a:off x="731520" y="635203"/>
            <a:ext cx="5388864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0F172A"/>
                </a:solidFill>
                <a:latin typeface="Microsoft YaHei"/>
              </a:rPr>
              <a:t>每一页都经过同一套质量闭环</a:t>
            </a:r>
          </a:p>
        </p:txBody>
      </p:sp>
      <p:sp>
        <p:nvSpPr>
          <p:cNvPr id="4" name="SVG text 1"/>
          <p:cNvSpPr txBox="1"/>
          <p:nvPr/>
        </p:nvSpPr>
        <p:spPr>
          <a:xfrm>
            <a:off x="731520" y="1227887"/>
            <a:ext cx="5277079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475569"/>
                </a:solidFill>
                <a:latin typeface="Microsoft YaHei"/>
              </a:rPr>
              <a:t>从 XML 合法性到 PowerPoint 实际渲染，问题在交付前被显性化。</a:t>
            </a:r>
          </a:p>
        </p:txBody>
      </p:sp>
      <p:cxnSp>
        <p:nvCxnSpPr>
          <p:cNvPr id="5" name="SVG line"/>
          <p:cNvCxnSpPr/>
          <p:nvPr/>
        </p:nvCxnSpPr>
        <p:spPr>
          <a:xfrm>
            <a:off x="1935480" y="2392680"/>
            <a:ext cx="8321040" cy="0"/>
          </a:xfrm>
          <a:prstGeom prst="line">
            <a:avLst/>
          </a:prstGeom>
          <a:ln w="30480">
            <a:solidFill>
              <a:srgbClr val="CBD5E1"/>
            </a:solidFill>
          </a:ln>
        </p:spPr>
      </p:cxnSp>
      <p:sp>
        <p:nvSpPr>
          <p:cNvPr id="6" name="SVG circle"/>
          <p:cNvSpPr/>
          <p:nvPr/>
        </p:nvSpPr>
        <p:spPr>
          <a:xfrm>
            <a:off x="1798320" y="225552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VG circle"/>
          <p:cNvSpPr/>
          <p:nvPr/>
        </p:nvSpPr>
        <p:spPr>
          <a:xfrm>
            <a:off x="4572000" y="225552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VG circle"/>
          <p:cNvSpPr/>
          <p:nvPr/>
        </p:nvSpPr>
        <p:spPr>
          <a:xfrm>
            <a:off x="7345680" y="2255520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VG circle"/>
          <p:cNvSpPr/>
          <p:nvPr/>
        </p:nvSpPr>
        <p:spPr>
          <a:xfrm>
            <a:off x="10119360" y="2255520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VG text 1"/>
          <p:cNvSpPr txBox="1"/>
          <p:nvPr/>
        </p:nvSpPr>
        <p:spPr>
          <a:xfrm>
            <a:off x="1494663" y="1824990"/>
            <a:ext cx="89687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Microsoft YaHei"/>
              </a:rPr>
              <a:t>Validate</a:t>
            </a:r>
          </a:p>
        </p:txBody>
      </p:sp>
      <p:sp>
        <p:nvSpPr>
          <p:cNvPr id="11" name="SVG text 1"/>
          <p:cNvSpPr txBox="1"/>
          <p:nvPr/>
        </p:nvSpPr>
        <p:spPr>
          <a:xfrm>
            <a:off x="4375328" y="1824990"/>
            <a:ext cx="68290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Microsoft YaHei"/>
              </a:rPr>
              <a:t>Render</a:t>
            </a:r>
          </a:p>
        </p:txBody>
      </p:sp>
      <p:sp>
        <p:nvSpPr>
          <p:cNvPr id="12" name="SVG text 1"/>
          <p:cNvSpPr txBox="1"/>
          <p:nvPr/>
        </p:nvSpPr>
        <p:spPr>
          <a:xfrm>
            <a:off x="7149008" y="1824990"/>
            <a:ext cx="68290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Microsoft YaHei"/>
              </a:rPr>
              <a:t>Review</a:t>
            </a:r>
          </a:p>
        </p:txBody>
      </p:sp>
      <p:sp>
        <p:nvSpPr>
          <p:cNvPr id="13" name="SVG text 1"/>
          <p:cNvSpPr txBox="1"/>
          <p:nvPr/>
        </p:nvSpPr>
        <p:spPr>
          <a:xfrm>
            <a:off x="9922688" y="1824990"/>
            <a:ext cx="68290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Microsoft YaHei"/>
              </a:rPr>
              <a:t>Revise</a:t>
            </a:r>
          </a:p>
        </p:txBody>
      </p:sp>
      <p:sp>
        <p:nvSpPr>
          <p:cNvPr id="14" name="SVG rect"/>
          <p:cNvSpPr/>
          <p:nvPr/>
        </p:nvSpPr>
        <p:spPr>
          <a:xfrm>
            <a:off x="731520" y="2941320"/>
            <a:ext cx="10728960" cy="2484120"/>
          </a:xfrm>
          <a:prstGeom prst="roundRect">
            <a:avLst>
              <a:gd name="adj" fmla="val 8588"/>
            </a:avLst>
          </a:prstGeom>
          <a:solidFill>
            <a:srgbClr val="FFFFFF"/>
          </a:solidFill>
          <a:ln w="22860">
            <a:solidFill>
              <a:srgbClr val="E2E8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VG rect"/>
          <p:cNvSpPr/>
          <p:nvPr/>
        </p:nvSpPr>
        <p:spPr>
          <a:xfrm>
            <a:off x="1036320" y="3276600"/>
            <a:ext cx="3962400" cy="1813560"/>
          </a:xfrm>
          <a:prstGeom prst="roundRect">
            <a:avLst>
              <a:gd name="adj" fmla="val 8403"/>
            </a:avLst>
          </a:prstGeom>
          <a:solidFill>
            <a:srgbClr val="EFF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VG text 1"/>
          <p:cNvSpPr txBox="1"/>
          <p:nvPr/>
        </p:nvSpPr>
        <p:spPr>
          <a:xfrm>
            <a:off x="1341120" y="3553358"/>
            <a:ext cx="96560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D4ED8"/>
                </a:solidFill>
                <a:latin typeface="Microsoft YaHei"/>
              </a:rPr>
              <a:t>确定性检查</a:t>
            </a:r>
          </a:p>
        </p:txBody>
      </p:sp>
      <p:sp>
        <p:nvSpPr>
          <p:cNvPr id="17" name="SVG text 1"/>
          <p:cNvSpPr txBox="1"/>
          <p:nvPr/>
        </p:nvSpPr>
        <p:spPr>
          <a:xfrm>
            <a:off x="1341120" y="3992575"/>
            <a:ext cx="296052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334155"/>
                </a:solidFill>
                <a:latin typeface="Microsoft YaHei"/>
              </a:rPr>
              <a:t>XML · viewBox · 远程资源 · 图片路径</a:t>
            </a:r>
          </a:p>
        </p:txBody>
      </p:sp>
      <p:sp>
        <p:nvSpPr>
          <p:cNvPr id="18" name="SVG text 1"/>
          <p:cNvSpPr txBox="1"/>
          <p:nvPr/>
        </p:nvSpPr>
        <p:spPr>
          <a:xfrm>
            <a:off x="1341120" y="4327855"/>
            <a:ext cx="277276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334155"/>
                </a:solidFill>
                <a:latin typeface="Microsoft YaHei"/>
              </a:rPr>
              <a:t>越界 · 异常尺寸 · PPTX 关系完整性</a:t>
            </a:r>
          </a:p>
        </p:txBody>
      </p:sp>
      <p:sp>
        <p:nvSpPr>
          <p:cNvPr id="19" name="SVG text 1"/>
          <p:cNvSpPr txBox="1"/>
          <p:nvPr/>
        </p:nvSpPr>
        <p:spPr>
          <a:xfrm>
            <a:off x="1341120" y="4688129"/>
            <a:ext cx="220553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Microsoft YaHei"/>
              </a:rPr>
              <a:t>机器负责重复、准确、可回归的判断</a:t>
            </a:r>
          </a:p>
        </p:txBody>
      </p:sp>
      <p:cxnSp>
        <p:nvCxnSpPr>
          <p:cNvPr id="20" name="SVG line"/>
          <p:cNvCxnSpPr/>
          <p:nvPr/>
        </p:nvCxnSpPr>
        <p:spPr>
          <a:xfrm>
            <a:off x="5471160" y="3291840"/>
            <a:ext cx="0" cy="1798320"/>
          </a:xfrm>
          <a:prstGeom prst="line">
            <a:avLst/>
          </a:prstGeom>
          <a:ln w="22860">
            <a:solidFill>
              <a:srgbClr val="E2E8F0"/>
            </a:solidFill>
          </a:ln>
        </p:spPr>
      </p:cxnSp>
      <p:sp>
        <p:nvSpPr>
          <p:cNvPr id="21" name="SVG text 1"/>
          <p:cNvSpPr txBox="1"/>
          <p:nvPr/>
        </p:nvSpPr>
        <p:spPr>
          <a:xfrm>
            <a:off x="5958840" y="3553358"/>
            <a:ext cx="775411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6D28D9"/>
                </a:solidFill>
                <a:latin typeface="Microsoft YaHei"/>
              </a:rPr>
              <a:t>视觉判断</a:t>
            </a:r>
          </a:p>
        </p:txBody>
      </p:sp>
      <p:sp>
        <p:nvSpPr>
          <p:cNvPr id="22" name="SVG text 1"/>
          <p:cNvSpPr txBox="1"/>
          <p:nvPr/>
        </p:nvSpPr>
        <p:spPr>
          <a:xfrm>
            <a:off x="5958840" y="3992575"/>
            <a:ext cx="284317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334155"/>
                </a:solidFill>
                <a:latin typeface="Microsoft YaHei"/>
              </a:rPr>
              <a:t>层级 · 对齐 · 留白 · 密度 · 图片裁剪</a:t>
            </a:r>
          </a:p>
        </p:txBody>
      </p:sp>
      <p:sp>
        <p:nvSpPr>
          <p:cNvPr id="23" name="SVG text 1"/>
          <p:cNvSpPr txBox="1"/>
          <p:nvPr/>
        </p:nvSpPr>
        <p:spPr>
          <a:xfrm>
            <a:off x="5958840" y="4327855"/>
            <a:ext cx="2769413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334155"/>
                </a:solidFill>
                <a:latin typeface="Microsoft YaHei"/>
              </a:rPr>
              <a:t>标题换行 · 文本基线 · 主题效果偏差</a:t>
            </a:r>
          </a:p>
        </p:txBody>
      </p:sp>
      <p:sp>
        <p:nvSpPr>
          <p:cNvPr id="24" name="SVG text 1"/>
          <p:cNvSpPr txBox="1"/>
          <p:nvPr/>
        </p:nvSpPr>
        <p:spPr>
          <a:xfrm>
            <a:off x="5958840" y="4688129"/>
            <a:ext cx="222885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Microsoft YaHei"/>
              </a:rPr>
              <a:t>Agent 查看真实预览并决定如何修改</a:t>
            </a:r>
          </a:p>
        </p:txBody>
      </p:sp>
      <p:sp>
        <p:nvSpPr>
          <p:cNvPr id="25" name="SVG text 1"/>
          <p:cNvSpPr txBox="1"/>
          <p:nvPr/>
        </p:nvSpPr>
        <p:spPr>
          <a:xfrm>
            <a:off x="10974934" y="6196889"/>
            <a:ext cx="496519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94A3B8"/>
                </a:solidFill>
                <a:latin typeface="Arial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VG rec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VG circle"/>
          <p:cNvSpPr/>
          <p:nvPr/>
        </p:nvSpPr>
        <p:spPr>
          <a:xfrm>
            <a:off x="8839200" y="0"/>
            <a:ext cx="3352800" cy="3352800"/>
          </a:xfrm>
          <a:prstGeom prst="ellipse">
            <a:avLst/>
          </a:prstGeom>
          <a:solidFill>
            <a:srgbClr val="1E3A8A">
              <a:alpha val="6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VG circle"/>
          <p:cNvSpPr/>
          <p:nvPr/>
        </p:nvSpPr>
        <p:spPr>
          <a:xfrm>
            <a:off x="8534400" y="3200400"/>
            <a:ext cx="3657600" cy="3657600"/>
          </a:xfrm>
          <a:prstGeom prst="ellipse">
            <a:avLst/>
          </a:prstGeom>
          <a:solidFill>
            <a:srgbClr val="4C1D95">
              <a:alpha val="4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VG text 1"/>
          <p:cNvSpPr txBox="1"/>
          <p:nvPr/>
        </p:nvSpPr>
        <p:spPr>
          <a:xfrm>
            <a:off x="731520" y="1153668"/>
            <a:ext cx="93268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93C5FD"/>
                </a:solidFill>
                <a:latin typeface="Microsoft YaHei"/>
              </a:rPr>
              <a:t>最终结果</a:t>
            </a:r>
          </a:p>
        </p:txBody>
      </p:sp>
      <p:sp>
        <p:nvSpPr>
          <p:cNvPr id="6" name="SVG text 1"/>
          <p:cNvSpPr txBox="1"/>
          <p:nvPr/>
        </p:nvSpPr>
        <p:spPr>
          <a:xfrm>
            <a:off x="731520" y="1779422"/>
            <a:ext cx="9168384" cy="5852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40" b="1" i="0">
                <a:solidFill>
                  <a:srgbClr val="FFFFFF"/>
                </a:solidFill>
                <a:latin typeface="Microsoft YaHei"/>
              </a:rPr>
              <a:t>一套演示文稿，也是一个可维护的源项目</a:t>
            </a:r>
          </a:p>
        </p:txBody>
      </p:sp>
      <p:sp>
        <p:nvSpPr>
          <p:cNvPr id="7" name="SVG text 1"/>
          <p:cNvSpPr txBox="1"/>
          <p:nvPr/>
        </p:nvSpPr>
        <p:spPr>
          <a:xfrm>
            <a:off x="731520" y="2544013"/>
            <a:ext cx="591914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CBD5E1"/>
                </a:solidFill>
                <a:latin typeface="Microsoft YaHei"/>
              </a:rPr>
              <a:t>设计可复审、对象可编辑、限制可追踪，修改从 SVG 源头继续。</a:t>
            </a:r>
          </a:p>
        </p:txBody>
      </p:sp>
      <p:cxnSp>
        <p:nvCxnSpPr>
          <p:cNvPr id="8" name="SVG line"/>
          <p:cNvCxnSpPr/>
          <p:nvPr/>
        </p:nvCxnSpPr>
        <p:spPr>
          <a:xfrm>
            <a:off x="731520" y="4053840"/>
            <a:ext cx="9875520" cy="0"/>
          </a:xfrm>
          <a:prstGeom prst="line">
            <a:avLst/>
          </a:prstGeom>
          <a:ln w="22860">
            <a:solidFill>
              <a:srgbClr val="334155"/>
            </a:solidFill>
          </a:ln>
        </p:spPr>
      </p:cxnSp>
      <p:sp>
        <p:nvSpPr>
          <p:cNvPr id="9" name="SVG text 1"/>
          <p:cNvSpPr txBox="1"/>
          <p:nvPr/>
        </p:nvSpPr>
        <p:spPr>
          <a:xfrm>
            <a:off x="731520" y="4442765"/>
            <a:ext cx="140612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FFFFFF"/>
                </a:solidFill>
                <a:latin typeface="Microsoft YaHei"/>
              </a:rPr>
              <a:t>Source SVGs</a:t>
            </a:r>
          </a:p>
        </p:txBody>
      </p:sp>
      <p:sp>
        <p:nvSpPr>
          <p:cNvPr id="10" name="SVG text 1"/>
          <p:cNvSpPr txBox="1"/>
          <p:nvPr/>
        </p:nvSpPr>
        <p:spPr>
          <a:xfrm>
            <a:off x="731520" y="4828032"/>
            <a:ext cx="9265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Microsoft YaHei"/>
              </a:rPr>
              <a:t>视觉设计真源</a:t>
            </a:r>
          </a:p>
        </p:txBody>
      </p:sp>
      <p:sp>
        <p:nvSpPr>
          <p:cNvPr id="11" name="SVG text 1"/>
          <p:cNvSpPr txBox="1"/>
          <p:nvPr/>
        </p:nvSpPr>
        <p:spPr>
          <a:xfrm>
            <a:off x="3672840" y="4442765"/>
            <a:ext cx="1525951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FFFFFF"/>
                </a:solidFill>
                <a:latin typeface="Microsoft YaHei"/>
              </a:rPr>
              <a:t>PNG Previews</a:t>
            </a:r>
          </a:p>
        </p:txBody>
      </p:sp>
      <p:sp>
        <p:nvSpPr>
          <p:cNvPr id="12" name="SVG text 1"/>
          <p:cNvSpPr txBox="1"/>
          <p:nvPr/>
        </p:nvSpPr>
        <p:spPr>
          <a:xfrm>
            <a:off x="3672840" y="4828032"/>
            <a:ext cx="9265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Microsoft YaHei"/>
              </a:rPr>
              <a:t>逐页视觉复审</a:t>
            </a:r>
          </a:p>
        </p:txBody>
      </p:sp>
      <p:sp>
        <p:nvSpPr>
          <p:cNvPr id="13" name="SVG text 1"/>
          <p:cNvSpPr txBox="1"/>
          <p:nvPr/>
        </p:nvSpPr>
        <p:spPr>
          <a:xfrm>
            <a:off x="6614160" y="4442765"/>
            <a:ext cx="218719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FFFFFF"/>
                </a:solidFill>
                <a:latin typeface="Microsoft YaHei"/>
              </a:rPr>
              <a:t>Compilation Report</a:t>
            </a:r>
          </a:p>
        </p:txBody>
      </p:sp>
      <p:sp>
        <p:nvSpPr>
          <p:cNvPr id="14" name="SVG text 1"/>
          <p:cNvSpPr txBox="1"/>
          <p:nvPr/>
        </p:nvSpPr>
        <p:spPr>
          <a:xfrm>
            <a:off x="6614160" y="4828032"/>
            <a:ext cx="9265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Microsoft YaHei"/>
              </a:rPr>
              <a:t>编辑能力透明</a:t>
            </a:r>
          </a:p>
        </p:txBody>
      </p:sp>
      <p:sp>
        <p:nvSpPr>
          <p:cNvPr id="15" name="SVG text 1"/>
          <p:cNvSpPr txBox="1"/>
          <p:nvPr/>
        </p:nvSpPr>
        <p:spPr>
          <a:xfrm>
            <a:off x="9555480" y="4442765"/>
            <a:ext cx="121529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FFFFFF"/>
                </a:solidFill>
                <a:latin typeface="Microsoft YaHei"/>
              </a:rPr>
              <a:t>final.pptx</a:t>
            </a:r>
          </a:p>
        </p:txBody>
      </p:sp>
      <p:sp>
        <p:nvSpPr>
          <p:cNvPr id="16" name="SVG text 1"/>
          <p:cNvSpPr txBox="1"/>
          <p:nvPr/>
        </p:nvSpPr>
        <p:spPr>
          <a:xfrm>
            <a:off x="9555480" y="4828032"/>
            <a:ext cx="138379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Microsoft YaHei"/>
              </a:rPr>
              <a:t>可打开、可继续编辑</a:t>
            </a:r>
          </a:p>
        </p:txBody>
      </p:sp>
      <p:sp>
        <p:nvSpPr>
          <p:cNvPr id="17" name="SVG text 1"/>
          <p:cNvSpPr txBox="1"/>
          <p:nvPr/>
        </p:nvSpPr>
        <p:spPr>
          <a:xfrm>
            <a:off x="10974934" y="6196889"/>
            <a:ext cx="496519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Arial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