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rect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VG text 1"/>
          <p:cNvSpPr txBox="1"/>
          <p:nvPr/>
        </p:nvSpPr>
        <p:spPr>
          <a:xfrm>
            <a:off x="731520" y="715975"/>
            <a:ext cx="330505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55EEF"/>
                </a:solidFill>
                <a:latin typeface="Microsoft YaHei"/>
              </a:rPr>
              <a:t>VECTOR-FIRST AGENT SKILL · V1.0</a:t>
            </a:r>
          </a:p>
        </p:txBody>
      </p:sp>
      <p:sp>
        <p:nvSpPr>
          <p:cNvPr id="5" name="SVG text 1"/>
          <p:cNvSpPr txBox="1"/>
          <p:nvPr/>
        </p:nvSpPr>
        <p:spPr>
          <a:xfrm>
            <a:off x="731520" y="1977238"/>
            <a:ext cx="5279782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50" b="1" i="0">
                <a:solidFill>
                  <a:srgbClr val="111827"/>
                </a:solidFill>
                <a:latin typeface="Microsoft YaHei"/>
              </a:rPr>
              <a:t>VectorDeckPPT</a:t>
            </a:r>
          </a:p>
        </p:txBody>
      </p:sp>
      <p:sp>
        <p:nvSpPr>
          <p:cNvPr id="6" name="SVG text 1"/>
          <p:cNvSpPr txBox="1"/>
          <p:nvPr/>
        </p:nvSpPr>
        <p:spPr>
          <a:xfrm>
            <a:off x="762000" y="2800807"/>
            <a:ext cx="50248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374151"/>
                </a:solidFill>
                <a:latin typeface="Microsoft YaHei"/>
              </a:rPr>
              <a:t>让 AI 负责设计，让代码保证交付</a:t>
            </a:r>
          </a:p>
        </p:txBody>
      </p:sp>
      <p:cxnSp>
        <p:nvCxnSpPr>
          <p:cNvPr id="7" name="SVG line"/>
          <p:cNvCxnSpPr/>
          <p:nvPr/>
        </p:nvCxnSpPr>
        <p:spPr>
          <a:xfrm>
            <a:off x="762000" y="3566160"/>
            <a:ext cx="4724400" cy="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sp>
        <p:nvSpPr>
          <p:cNvPr id="8" name="SVG text 1"/>
          <p:cNvSpPr txBox="1"/>
          <p:nvPr/>
        </p:nvSpPr>
        <p:spPr>
          <a:xfrm>
            <a:off x="762000" y="3845662"/>
            <a:ext cx="472714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6B7280"/>
                </a:solidFill>
                <a:latin typeface="Microsoft YaHei"/>
              </a:rPr>
              <a:t>高质量 · 可编辑 · 可验证的 PowerPoint 生成工作流</a:t>
            </a:r>
          </a:p>
        </p:txBody>
      </p:sp>
      <p:sp>
        <p:nvSpPr>
          <p:cNvPr id="9" name="SVG rect"/>
          <p:cNvSpPr/>
          <p:nvPr/>
        </p:nvSpPr>
        <p:spPr>
          <a:xfrm>
            <a:off x="7086600" y="1295400"/>
            <a:ext cx="4008120" cy="2255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rect"/>
          <p:cNvSpPr/>
          <p:nvPr/>
        </p:nvSpPr>
        <p:spPr>
          <a:xfrm>
            <a:off x="7391400" y="1630680"/>
            <a:ext cx="2103120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rect"/>
          <p:cNvSpPr/>
          <p:nvPr/>
        </p:nvSpPr>
        <p:spPr>
          <a:xfrm>
            <a:off x="7391400" y="1965960"/>
            <a:ext cx="1524000" cy="7620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rect"/>
          <p:cNvSpPr/>
          <p:nvPr/>
        </p:nvSpPr>
        <p:spPr>
          <a:xfrm>
            <a:off x="7391400" y="2255520"/>
            <a:ext cx="1402080" cy="8839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rect"/>
          <p:cNvSpPr/>
          <p:nvPr/>
        </p:nvSpPr>
        <p:spPr>
          <a:xfrm>
            <a:off x="9006840" y="2255520"/>
            <a:ext cx="1767840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VG rect"/>
          <p:cNvSpPr/>
          <p:nvPr/>
        </p:nvSpPr>
        <p:spPr>
          <a:xfrm>
            <a:off x="9006840" y="2514600"/>
            <a:ext cx="1447800" cy="7620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VG rect"/>
          <p:cNvSpPr/>
          <p:nvPr/>
        </p:nvSpPr>
        <p:spPr>
          <a:xfrm>
            <a:off x="9006840" y="2727960"/>
            <a:ext cx="1645920" cy="7620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VG rect"/>
          <p:cNvSpPr/>
          <p:nvPr/>
        </p:nvSpPr>
        <p:spPr>
          <a:xfrm>
            <a:off x="9006840" y="2941320"/>
            <a:ext cx="1158240" cy="7620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VG circle"/>
          <p:cNvSpPr/>
          <p:nvPr/>
        </p:nvSpPr>
        <p:spPr>
          <a:xfrm>
            <a:off x="6987540" y="1196340"/>
            <a:ext cx="198120" cy="198120"/>
          </a:xfrm>
          <a:prstGeom prst="ellipse">
            <a:avLst/>
          </a:prstGeom>
          <a:solidFill>
            <a:srgbClr val="B8F34A"/>
          </a:solidFill>
          <a:ln w="2286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SVG line"/>
          <p:cNvCxnSpPr/>
          <p:nvPr/>
        </p:nvCxnSpPr>
        <p:spPr>
          <a:xfrm>
            <a:off x="7086600" y="4206240"/>
            <a:ext cx="4008120" cy="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19" name="SVG circle"/>
          <p:cNvSpPr/>
          <p:nvPr/>
        </p:nvSpPr>
        <p:spPr>
          <a:xfrm>
            <a:off x="7330440" y="4130040"/>
            <a:ext cx="152400" cy="1524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VG circle"/>
          <p:cNvSpPr/>
          <p:nvPr/>
        </p:nvSpPr>
        <p:spPr>
          <a:xfrm>
            <a:off x="9014460" y="4130040"/>
            <a:ext cx="152400" cy="1524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VG circle"/>
          <p:cNvSpPr/>
          <p:nvPr/>
        </p:nvSpPr>
        <p:spPr>
          <a:xfrm>
            <a:off x="10698480" y="4130040"/>
            <a:ext cx="152400" cy="152400"/>
          </a:xfrm>
          <a:prstGeom prst="ellipse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VG text 1"/>
          <p:cNvSpPr txBox="1"/>
          <p:nvPr/>
        </p:nvSpPr>
        <p:spPr>
          <a:xfrm>
            <a:off x="7216445" y="4467758"/>
            <a:ext cx="39502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叙事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8899514" y="4467758"/>
            <a:ext cx="396923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SVG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10519818" y="4467758"/>
            <a:ext cx="52435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PPTX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7025640" y="4751832"/>
            <a:ext cx="7741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理解与设计</a:t>
            </a:r>
          </a:p>
        </p:txBody>
      </p:sp>
      <p:sp>
        <p:nvSpPr>
          <p:cNvPr id="26" name="SVG text 1"/>
          <p:cNvSpPr txBox="1"/>
          <p:nvPr/>
        </p:nvSpPr>
        <p:spPr>
          <a:xfrm>
            <a:off x="8785860" y="4751832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视觉真源</a:t>
            </a:r>
          </a:p>
        </p:txBody>
      </p:sp>
      <p:sp>
        <p:nvSpPr>
          <p:cNvPr id="27" name="SVG text 1"/>
          <p:cNvSpPr txBox="1"/>
          <p:nvPr/>
        </p:nvSpPr>
        <p:spPr>
          <a:xfrm>
            <a:off x="10393680" y="4751832"/>
            <a:ext cx="7741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编辑与交付</a:t>
            </a:r>
          </a:p>
        </p:txBody>
      </p:sp>
      <p:sp>
        <p:nvSpPr>
          <p:cNvPr id="28" name="SVG text 1"/>
          <p:cNvSpPr txBox="1"/>
          <p:nvPr/>
        </p:nvSpPr>
        <p:spPr>
          <a:xfrm>
            <a:off x="762000" y="6184392"/>
            <a:ext cx="20040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PROJECT INTRODUCTION</a:t>
            </a:r>
          </a:p>
        </p:txBody>
      </p:sp>
      <p:sp>
        <p:nvSpPr>
          <p:cNvPr id="29" name="SVG text 1"/>
          <p:cNvSpPr txBox="1"/>
          <p:nvPr/>
        </p:nvSpPr>
        <p:spPr>
          <a:xfrm>
            <a:off x="11283696" y="618439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30788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演示文稿生成，不该在三件事之间妥协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488838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传统自动化通常只优化“产出速度”，却牺牲后续修改或质量判断。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4312920" y="1798320"/>
            <a:ext cx="0" cy="274320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cxnSp>
        <p:nvCxnSpPr>
          <p:cNvPr id="6" name="SVG line"/>
          <p:cNvCxnSpPr/>
          <p:nvPr/>
        </p:nvCxnSpPr>
        <p:spPr>
          <a:xfrm>
            <a:off x="7879080" y="1798320"/>
            <a:ext cx="0" cy="274320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7" name="SVG text 1"/>
          <p:cNvSpPr txBox="1"/>
          <p:nvPr/>
        </p:nvSpPr>
        <p:spPr>
          <a:xfrm>
            <a:off x="731520" y="2129638"/>
            <a:ext cx="1415491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50" b="1" i="0">
                <a:solidFill>
                  <a:srgbClr val="111827"/>
                </a:solidFill>
                <a:latin typeface="Microsoft YaHei"/>
              </a:rPr>
              <a:t>好看</a:t>
            </a:r>
          </a:p>
        </p:txBody>
      </p:sp>
      <p:sp>
        <p:nvSpPr>
          <p:cNvPr id="8" name="SVG rect"/>
          <p:cNvSpPr/>
          <p:nvPr/>
        </p:nvSpPr>
        <p:spPr>
          <a:xfrm>
            <a:off x="731520" y="3124200"/>
            <a:ext cx="2118360" cy="9144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VG text 1"/>
          <p:cNvSpPr txBox="1"/>
          <p:nvPr/>
        </p:nvSpPr>
        <p:spPr>
          <a:xfrm>
            <a:off x="731520" y="3418942"/>
            <a:ext cx="160081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有叙事、有层级，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731520" y="3723742"/>
            <a:ext cx="160081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而不是模板拼装。</a:t>
            </a:r>
          </a:p>
        </p:txBody>
      </p:sp>
      <p:sp>
        <p:nvSpPr>
          <p:cNvPr id="11" name="SVG text 1"/>
          <p:cNvSpPr txBox="1"/>
          <p:nvPr/>
        </p:nvSpPr>
        <p:spPr>
          <a:xfrm>
            <a:off x="4785360" y="2129638"/>
            <a:ext cx="2097024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50" b="1" i="0">
                <a:solidFill>
                  <a:srgbClr val="111827"/>
                </a:solidFill>
                <a:latin typeface="Microsoft YaHei"/>
              </a:rPr>
              <a:t>可编辑</a:t>
            </a:r>
          </a:p>
        </p:txBody>
      </p:sp>
      <p:sp>
        <p:nvSpPr>
          <p:cNvPr id="12" name="SVG rect"/>
          <p:cNvSpPr/>
          <p:nvPr/>
        </p:nvSpPr>
        <p:spPr>
          <a:xfrm>
            <a:off x="4785360" y="3124200"/>
            <a:ext cx="2118360" cy="9144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text 1"/>
          <p:cNvSpPr txBox="1"/>
          <p:nvPr/>
        </p:nvSpPr>
        <p:spPr>
          <a:xfrm>
            <a:off x="4785360" y="3418942"/>
            <a:ext cx="160081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文字与基础图形，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4785360" y="3723742"/>
            <a:ext cx="140269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仍是原生对象。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8351520" y="2129638"/>
            <a:ext cx="2097024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50" b="1" i="0">
                <a:solidFill>
                  <a:srgbClr val="111827"/>
                </a:solidFill>
                <a:latin typeface="Microsoft YaHei"/>
              </a:rPr>
              <a:t>可验证</a:t>
            </a:r>
          </a:p>
        </p:txBody>
      </p:sp>
      <p:sp>
        <p:nvSpPr>
          <p:cNvPr id="16" name="SVG rect"/>
          <p:cNvSpPr/>
          <p:nvPr/>
        </p:nvSpPr>
        <p:spPr>
          <a:xfrm>
            <a:off x="8351520" y="3124200"/>
            <a:ext cx="2362200" cy="91440"/>
          </a:xfrm>
          <a:prstGeom prst="rect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VG text 1"/>
          <p:cNvSpPr txBox="1"/>
          <p:nvPr/>
        </p:nvSpPr>
        <p:spPr>
          <a:xfrm>
            <a:off x="8351520" y="3418942"/>
            <a:ext cx="140269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每一步有产物，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8351520" y="3723742"/>
            <a:ext cx="179893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374151"/>
                </a:solidFill>
                <a:latin typeface="Microsoft YaHei"/>
              </a:rPr>
              <a:t>每一次降级有记录。</a:t>
            </a:r>
          </a:p>
        </p:txBody>
      </p:sp>
      <p:sp>
        <p:nvSpPr>
          <p:cNvPr id="19" name="SVG rect"/>
          <p:cNvSpPr/>
          <p:nvPr/>
        </p:nvSpPr>
        <p:spPr>
          <a:xfrm>
            <a:off x="731520" y="4998720"/>
            <a:ext cx="1072896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VG text 1"/>
          <p:cNvSpPr txBox="1"/>
          <p:nvPr/>
        </p:nvSpPr>
        <p:spPr>
          <a:xfrm>
            <a:off x="1036320" y="5310835"/>
            <a:ext cx="21142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VECTORDECKPPT 的选择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1036320" y="5576011"/>
            <a:ext cx="50913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用一条可审查的向量工作流，同时保住三者。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11283696" y="62910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73582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创造性判断与确定性执行，各做擅长的事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6056833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产品不是另一个 AI API，而是一套让宿主 Agent 正确工作的 Skill 与工具链。</a:t>
            </a:r>
          </a:p>
        </p:txBody>
      </p:sp>
      <p:sp>
        <p:nvSpPr>
          <p:cNvPr id="5" name="SVG rect"/>
          <p:cNvSpPr/>
          <p:nvPr/>
        </p:nvSpPr>
        <p:spPr>
          <a:xfrm>
            <a:off x="731520" y="1706880"/>
            <a:ext cx="10728960" cy="1874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VG text 1"/>
          <p:cNvSpPr txBox="1"/>
          <p:nvPr/>
        </p:nvSpPr>
        <p:spPr>
          <a:xfrm>
            <a:off x="1036320" y="1980895"/>
            <a:ext cx="22084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HOST AGENT · 创造性判断</a:t>
            </a:r>
          </a:p>
        </p:txBody>
      </p:sp>
      <p:cxnSp>
        <p:nvCxnSpPr>
          <p:cNvPr id="7" name="SVG line"/>
          <p:cNvCxnSpPr/>
          <p:nvPr/>
        </p:nvCxnSpPr>
        <p:spPr>
          <a:xfrm>
            <a:off x="4183380" y="2407920"/>
            <a:ext cx="0" cy="838200"/>
          </a:xfrm>
          <a:prstGeom prst="line">
            <a:avLst/>
          </a:prstGeom>
          <a:ln w="15240">
            <a:solidFill>
              <a:srgbClr val="4B5563"/>
            </a:solidFill>
          </a:ln>
        </p:spPr>
      </p:cxnSp>
      <p:cxnSp>
        <p:nvCxnSpPr>
          <p:cNvPr id="8" name="SVG line"/>
          <p:cNvCxnSpPr/>
          <p:nvPr/>
        </p:nvCxnSpPr>
        <p:spPr>
          <a:xfrm>
            <a:off x="7749540" y="2407920"/>
            <a:ext cx="0" cy="838200"/>
          </a:xfrm>
          <a:prstGeom prst="line">
            <a:avLst/>
          </a:prstGeom>
          <a:ln w="15240">
            <a:solidFill>
              <a:srgbClr val="4B5563"/>
            </a:solidFill>
          </a:ln>
        </p:spPr>
      </p:cxnSp>
      <p:sp>
        <p:nvSpPr>
          <p:cNvPr id="9" name="SVG text 1"/>
          <p:cNvSpPr txBox="1"/>
          <p:nvPr/>
        </p:nvSpPr>
        <p:spPr>
          <a:xfrm>
            <a:off x="1036320" y="2515514"/>
            <a:ext cx="136794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Microsoft YaHei"/>
              </a:rPr>
              <a:t>理解与提炼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1036320" y="2919527"/>
            <a:ext cx="194188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D1D5DB"/>
                </a:solidFill>
                <a:latin typeface="Microsoft YaHei"/>
              </a:rPr>
              <a:t>读资料、辨证据、定受众</a:t>
            </a:r>
          </a:p>
        </p:txBody>
      </p:sp>
      <p:sp>
        <p:nvSpPr>
          <p:cNvPr id="11" name="SVG text 1"/>
          <p:cNvSpPr txBox="1"/>
          <p:nvPr/>
        </p:nvSpPr>
        <p:spPr>
          <a:xfrm>
            <a:off x="4602480" y="2515514"/>
            <a:ext cx="190682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Microsoft YaHei"/>
              </a:rPr>
              <a:t>叙事与艺术方向</a:t>
            </a:r>
          </a:p>
        </p:txBody>
      </p:sp>
      <p:sp>
        <p:nvSpPr>
          <p:cNvPr id="12" name="SVG text 1"/>
          <p:cNvSpPr txBox="1"/>
          <p:nvPr/>
        </p:nvSpPr>
        <p:spPr>
          <a:xfrm>
            <a:off x="4602480" y="2919527"/>
            <a:ext cx="194188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D1D5DB"/>
                </a:solidFill>
                <a:latin typeface="Microsoft YaHei"/>
              </a:rPr>
              <a:t>组织故事、定义视觉命题</a:t>
            </a:r>
          </a:p>
        </p:txBody>
      </p:sp>
      <p:sp>
        <p:nvSpPr>
          <p:cNvPr id="13" name="SVG text 1"/>
          <p:cNvSpPr txBox="1"/>
          <p:nvPr/>
        </p:nvSpPr>
        <p:spPr>
          <a:xfrm>
            <a:off x="8168640" y="2515514"/>
            <a:ext cx="163738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Microsoft YaHei"/>
              </a:rPr>
              <a:t>逐页视觉复审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8168640" y="2919527"/>
            <a:ext cx="194188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D1D5DB"/>
                </a:solidFill>
                <a:latin typeface="Microsoft YaHei"/>
              </a:rPr>
              <a:t>看实际渲染，不只看源码</a:t>
            </a:r>
          </a:p>
        </p:txBody>
      </p:sp>
      <p:sp>
        <p:nvSpPr>
          <p:cNvPr id="15" name="SVG rect"/>
          <p:cNvSpPr/>
          <p:nvPr/>
        </p:nvSpPr>
        <p:spPr>
          <a:xfrm>
            <a:off x="731520" y="3703320"/>
            <a:ext cx="1072896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VG text 1"/>
          <p:cNvSpPr txBox="1"/>
          <p:nvPr/>
        </p:nvSpPr>
        <p:spPr>
          <a:xfrm>
            <a:off x="1036320" y="3977335"/>
            <a:ext cx="325972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55EEF"/>
                </a:solidFill>
                <a:latin typeface="Microsoft YaHei"/>
              </a:rPr>
              <a:t>DETERMINISTIC TOOLS · 确定性执行</a:t>
            </a:r>
          </a:p>
        </p:txBody>
      </p:sp>
      <p:cxnSp>
        <p:nvCxnSpPr>
          <p:cNvPr id="17" name="SVG line"/>
          <p:cNvCxnSpPr/>
          <p:nvPr/>
        </p:nvCxnSpPr>
        <p:spPr>
          <a:xfrm>
            <a:off x="4183380" y="4404360"/>
            <a:ext cx="0" cy="83820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cxnSp>
        <p:nvCxnSpPr>
          <p:cNvPr id="18" name="SVG line"/>
          <p:cNvCxnSpPr/>
          <p:nvPr/>
        </p:nvCxnSpPr>
        <p:spPr>
          <a:xfrm>
            <a:off x="7749540" y="4404360"/>
            <a:ext cx="0" cy="83820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19" name="SVG text 1"/>
          <p:cNvSpPr txBox="1"/>
          <p:nvPr/>
        </p:nvSpPr>
        <p:spPr>
          <a:xfrm>
            <a:off x="1036320" y="4511954"/>
            <a:ext cx="119280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Microsoft YaHei"/>
              </a:rPr>
              <a:t>SVG 校验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1036320" y="4915967"/>
            <a:ext cx="194188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6B7280"/>
                </a:solidFill>
                <a:latin typeface="Microsoft YaHei"/>
              </a:rPr>
              <a:t>安全、尺寸、元素与资源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4602480" y="4511954"/>
            <a:ext cx="136794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Microsoft YaHei"/>
              </a:rPr>
              <a:t>渲染与编译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4602480" y="4915967"/>
            <a:ext cx="235724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6B7280"/>
                </a:solidFill>
                <a:latin typeface="Microsoft YaHei"/>
              </a:rPr>
              <a:t>预览 PNG，生成可编辑 PPTX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8168640" y="4511954"/>
            <a:ext cx="137333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Microsoft YaHei"/>
              </a:rPr>
              <a:t>PPTX 验证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8168640" y="4915967"/>
            <a:ext cx="194188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6B7280"/>
                </a:solidFill>
                <a:latin typeface="Microsoft YaHei"/>
              </a:rPr>
              <a:t>包结构、关系与对象检查</a:t>
            </a:r>
          </a:p>
        </p:txBody>
      </p:sp>
      <p:sp>
        <p:nvSpPr>
          <p:cNvPr id="25" name="SVG rect"/>
          <p:cNvSpPr/>
          <p:nvPr/>
        </p:nvSpPr>
        <p:spPr>
          <a:xfrm>
            <a:off x="5791200" y="3459480"/>
            <a:ext cx="609600" cy="36576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VG text 1"/>
          <p:cNvSpPr txBox="1"/>
          <p:nvPr/>
        </p:nvSpPr>
        <p:spPr>
          <a:xfrm>
            <a:off x="5936712" y="3578352"/>
            <a:ext cx="33076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SVG</a:t>
            </a:r>
          </a:p>
        </p:txBody>
      </p:sp>
      <p:sp>
        <p:nvSpPr>
          <p:cNvPr id="27" name="SVG text 1"/>
          <p:cNvSpPr txBox="1"/>
          <p:nvPr/>
        </p:nvSpPr>
        <p:spPr>
          <a:xfrm>
            <a:off x="731520" y="6214872"/>
            <a:ext cx="27203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ONE RESPONSIBILITY PER LAYER</a:t>
            </a:r>
          </a:p>
        </p:txBody>
      </p:sp>
      <p:sp>
        <p:nvSpPr>
          <p:cNvPr id="28" name="SVG text 1"/>
          <p:cNvSpPr txBox="1"/>
          <p:nvPr/>
        </p:nvSpPr>
        <p:spPr>
          <a:xfrm>
            <a:off x="11283696" y="62148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744383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从资料到 PPTX，每一步都有清晰质量门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37014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工作流让创造性决策可见，也让工程结果可重复。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1143000" y="2682240"/>
            <a:ext cx="9906000" cy="0"/>
          </a:xfrm>
          <a:prstGeom prst="line">
            <a:avLst/>
          </a:prstGeom>
          <a:ln w="45720">
            <a:solidFill>
              <a:srgbClr val="D4CFC4"/>
            </a:solidFill>
          </a:ln>
        </p:spPr>
      </p:cxnSp>
      <p:cxnSp>
        <p:nvCxnSpPr>
          <p:cNvPr id="6" name="SVG line"/>
          <p:cNvCxnSpPr/>
          <p:nvPr/>
        </p:nvCxnSpPr>
        <p:spPr>
          <a:xfrm>
            <a:off x="1143000" y="2682240"/>
            <a:ext cx="4953000" cy="0"/>
          </a:xfrm>
          <a:prstGeom prst="line">
            <a:avLst/>
          </a:prstGeom>
          <a:ln w="45720">
            <a:solidFill>
              <a:srgbClr val="155EEF"/>
            </a:solidFill>
          </a:ln>
        </p:spPr>
      </p:cxnSp>
      <p:sp>
        <p:nvSpPr>
          <p:cNvPr id="7" name="SVG circle"/>
          <p:cNvSpPr/>
          <p:nvPr/>
        </p:nvSpPr>
        <p:spPr>
          <a:xfrm>
            <a:off x="914400" y="2453640"/>
            <a:ext cx="457200" cy="4572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VG circle"/>
          <p:cNvSpPr/>
          <p:nvPr/>
        </p:nvSpPr>
        <p:spPr>
          <a:xfrm>
            <a:off x="2567940" y="2453640"/>
            <a:ext cx="457200" cy="4572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VG circle"/>
          <p:cNvSpPr/>
          <p:nvPr/>
        </p:nvSpPr>
        <p:spPr>
          <a:xfrm>
            <a:off x="4221480" y="2453640"/>
            <a:ext cx="457200" cy="4572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circle"/>
          <p:cNvSpPr/>
          <p:nvPr/>
        </p:nvSpPr>
        <p:spPr>
          <a:xfrm>
            <a:off x="5867400" y="2453640"/>
            <a:ext cx="457200" cy="4572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circle"/>
          <p:cNvSpPr/>
          <p:nvPr/>
        </p:nvSpPr>
        <p:spPr>
          <a:xfrm>
            <a:off x="7520940" y="2453640"/>
            <a:ext cx="457200" cy="4572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circle"/>
          <p:cNvSpPr/>
          <p:nvPr/>
        </p:nvSpPr>
        <p:spPr>
          <a:xfrm>
            <a:off x="9174480" y="2453640"/>
            <a:ext cx="457200" cy="4572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circle"/>
          <p:cNvSpPr/>
          <p:nvPr/>
        </p:nvSpPr>
        <p:spPr>
          <a:xfrm>
            <a:off x="10820400" y="2453640"/>
            <a:ext cx="457200" cy="457200"/>
          </a:xfrm>
          <a:prstGeom prst="ellipse">
            <a:avLst/>
          </a:prstGeom>
          <a:solidFill>
            <a:srgbClr val="B8F34A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VG text 1"/>
          <p:cNvSpPr txBox="1"/>
          <p:nvPr/>
        </p:nvSpPr>
        <p:spPr>
          <a:xfrm>
            <a:off x="105107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270461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SVG text 1"/>
          <p:cNvSpPr txBox="1"/>
          <p:nvPr/>
        </p:nvSpPr>
        <p:spPr>
          <a:xfrm>
            <a:off x="435815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600407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765761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Microsoft YaHei"/>
              </a:rPr>
              <a:t>05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931115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Microsoft YaHei"/>
              </a:rPr>
              <a:t>06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10957072" y="2633472"/>
            <a:ext cx="19604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Microsoft YaHei"/>
              </a:rPr>
              <a:t>07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857707" y="3233318"/>
            <a:ext cx="58521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读资料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2511247" y="3233318"/>
            <a:ext cx="58521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定叙事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4164787" y="3233318"/>
            <a:ext cx="58521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定风格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5777423" y="3233318"/>
            <a:ext cx="65178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写 SVG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7369150" y="323331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校验渲染</a:t>
            </a:r>
          </a:p>
        </p:txBody>
      </p:sp>
      <p:sp>
        <p:nvSpPr>
          <p:cNvPr id="26" name="SVG text 1"/>
          <p:cNvSpPr txBox="1"/>
          <p:nvPr/>
        </p:nvSpPr>
        <p:spPr>
          <a:xfrm>
            <a:off x="9022690" y="323331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视觉复审</a:t>
            </a:r>
          </a:p>
        </p:txBody>
      </p:sp>
      <p:sp>
        <p:nvSpPr>
          <p:cNvPr id="27" name="SVG text 1"/>
          <p:cNvSpPr txBox="1"/>
          <p:nvPr/>
        </p:nvSpPr>
        <p:spPr>
          <a:xfrm>
            <a:off x="10668610" y="323331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编译交付</a:t>
            </a:r>
          </a:p>
        </p:txBody>
      </p:sp>
      <p:sp>
        <p:nvSpPr>
          <p:cNvPr id="28" name="SVG text 1"/>
          <p:cNvSpPr txBox="1"/>
          <p:nvPr/>
        </p:nvSpPr>
        <p:spPr>
          <a:xfrm>
            <a:off x="853440" y="3584600"/>
            <a:ext cx="5907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理解事实</a:t>
            </a:r>
          </a:p>
        </p:txBody>
      </p:sp>
      <p:sp>
        <p:nvSpPr>
          <p:cNvPr id="29" name="SVG text 1"/>
          <p:cNvSpPr txBox="1"/>
          <p:nvPr/>
        </p:nvSpPr>
        <p:spPr>
          <a:xfrm>
            <a:off x="2434590" y="3584600"/>
            <a:ext cx="73548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建立问题链</a:t>
            </a:r>
          </a:p>
        </p:txBody>
      </p:sp>
      <p:sp>
        <p:nvSpPr>
          <p:cNvPr id="30" name="SVG text 1"/>
          <p:cNvSpPr txBox="1"/>
          <p:nvPr/>
        </p:nvSpPr>
        <p:spPr>
          <a:xfrm>
            <a:off x="4160520" y="3584600"/>
            <a:ext cx="5907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视觉命题</a:t>
            </a:r>
          </a:p>
        </p:txBody>
      </p:sp>
      <p:sp>
        <p:nvSpPr>
          <p:cNvPr id="31" name="SVG text 1"/>
          <p:cNvSpPr txBox="1"/>
          <p:nvPr/>
        </p:nvSpPr>
        <p:spPr>
          <a:xfrm>
            <a:off x="5806440" y="3584600"/>
            <a:ext cx="5907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一页一源</a:t>
            </a:r>
          </a:p>
        </p:txBody>
      </p:sp>
      <p:sp>
        <p:nvSpPr>
          <p:cNvPr id="32" name="SVG text 1"/>
          <p:cNvSpPr txBox="1"/>
          <p:nvPr/>
        </p:nvSpPr>
        <p:spPr>
          <a:xfrm>
            <a:off x="7387590" y="3584600"/>
            <a:ext cx="73548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结构与预览</a:t>
            </a:r>
          </a:p>
        </p:txBody>
      </p:sp>
      <p:sp>
        <p:nvSpPr>
          <p:cNvPr id="33" name="SVG text 1"/>
          <p:cNvSpPr txBox="1"/>
          <p:nvPr/>
        </p:nvSpPr>
        <p:spPr>
          <a:xfrm>
            <a:off x="9113520" y="3584600"/>
            <a:ext cx="5907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逐页修订</a:t>
            </a:r>
          </a:p>
        </p:txBody>
      </p:sp>
      <p:sp>
        <p:nvSpPr>
          <p:cNvPr id="34" name="SVG text 1"/>
          <p:cNvSpPr txBox="1"/>
          <p:nvPr/>
        </p:nvSpPr>
        <p:spPr>
          <a:xfrm>
            <a:off x="10621899" y="3584600"/>
            <a:ext cx="86578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PPTX + 报告</a:t>
            </a:r>
          </a:p>
        </p:txBody>
      </p:sp>
      <p:sp>
        <p:nvSpPr>
          <p:cNvPr id="35" name="SVG rect"/>
          <p:cNvSpPr/>
          <p:nvPr/>
        </p:nvSpPr>
        <p:spPr>
          <a:xfrm>
            <a:off x="731520" y="4648200"/>
            <a:ext cx="536448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VG text 1"/>
          <p:cNvSpPr txBox="1"/>
          <p:nvPr/>
        </p:nvSpPr>
        <p:spPr>
          <a:xfrm>
            <a:off x="1005840" y="4891735"/>
            <a:ext cx="159123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CREATIVE GATES</a:t>
            </a:r>
          </a:p>
        </p:txBody>
      </p:sp>
      <p:sp>
        <p:nvSpPr>
          <p:cNvPr id="37" name="SVG text 1"/>
          <p:cNvSpPr txBox="1"/>
          <p:nvPr/>
        </p:nvSpPr>
        <p:spPr>
          <a:xfrm>
            <a:off x="1005840" y="5189525"/>
            <a:ext cx="334548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</a:rPr>
              <a:t>受众、论点、艺术方向、页面判断</a:t>
            </a:r>
          </a:p>
        </p:txBody>
      </p:sp>
      <p:sp>
        <p:nvSpPr>
          <p:cNvPr id="38" name="SVG rect"/>
          <p:cNvSpPr/>
          <p:nvPr/>
        </p:nvSpPr>
        <p:spPr>
          <a:xfrm>
            <a:off x="6096000" y="4648200"/>
            <a:ext cx="53644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VG text 1"/>
          <p:cNvSpPr txBox="1"/>
          <p:nvPr/>
        </p:nvSpPr>
        <p:spPr>
          <a:xfrm>
            <a:off x="6370320" y="4891735"/>
            <a:ext cx="1474427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55EEF"/>
                </a:solidFill>
                <a:latin typeface="Microsoft YaHei"/>
              </a:rPr>
              <a:t>QUALITY GATES</a:t>
            </a:r>
          </a:p>
        </p:txBody>
      </p:sp>
      <p:sp>
        <p:nvSpPr>
          <p:cNvPr id="40" name="SVG text 1"/>
          <p:cNvSpPr txBox="1"/>
          <p:nvPr/>
        </p:nvSpPr>
        <p:spPr>
          <a:xfrm>
            <a:off x="6370320" y="5189525"/>
            <a:ext cx="387137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11827"/>
                </a:solidFill>
                <a:latin typeface="Microsoft YaHei"/>
              </a:rPr>
              <a:t>SVG 安全、渲染、编译、PPTX 完整性</a:t>
            </a:r>
          </a:p>
        </p:txBody>
      </p:sp>
      <p:sp>
        <p:nvSpPr>
          <p:cNvPr id="41" name="SVG text 1"/>
          <p:cNvSpPr txBox="1"/>
          <p:nvPr/>
        </p:nvSpPr>
        <p:spPr>
          <a:xfrm>
            <a:off x="11283696" y="62148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831354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一页 SVG，是设计、审查与修改的共同真源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4320083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不是把 SVG 当作小图标，而是让它完整描述一张幻灯片。</a:t>
            </a:r>
          </a:p>
        </p:txBody>
      </p:sp>
      <p:sp>
        <p:nvSpPr>
          <p:cNvPr id="5" name="SVG rect"/>
          <p:cNvSpPr/>
          <p:nvPr/>
        </p:nvSpPr>
        <p:spPr>
          <a:xfrm>
            <a:off x="731520" y="1706880"/>
            <a:ext cx="6629400" cy="3726180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VG text 1"/>
          <p:cNvSpPr txBox="1"/>
          <p:nvPr/>
        </p:nvSpPr>
        <p:spPr>
          <a:xfrm>
            <a:off x="1036320" y="1993392"/>
            <a:ext cx="224698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5EEF"/>
                </a:solidFill>
                <a:latin typeface="Microsoft YaHei"/>
              </a:rPr>
              <a:t>SLIDE_05.SVG · 1600 × 900</a:t>
            </a:r>
          </a:p>
        </p:txBody>
      </p:sp>
      <p:sp>
        <p:nvSpPr>
          <p:cNvPr id="7" name="SVG rect"/>
          <p:cNvSpPr/>
          <p:nvPr/>
        </p:nvSpPr>
        <p:spPr>
          <a:xfrm>
            <a:off x="1036320" y="2407920"/>
            <a:ext cx="3581400" cy="182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VG rect"/>
          <p:cNvSpPr/>
          <p:nvPr/>
        </p:nvSpPr>
        <p:spPr>
          <a:xfrm>
            <a:off x="1036320" y="2773680"/>
            <a:ext cx="2529840" cy="9144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VG rect"/>
          <p:cNvSpPr/>
          <p:nvPr/>
        </p:nvSpPr>
        <p:spPr>
          <a:xfrm>
            <a:off x="1036320" y="3185160"/>
            <a:ext cx="2651760" cy="161544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circle"/>
          <p:cNvSpPr/>
          <p:nvPr/>
        </p:nvSpPr>
        <p:spPr>
          <a:xfrm>
            <a:off x="1798320" y="3429000"/>
            <a:ext cx="1127760" cy="1127760"/>
          </a:xfrm>
          <a:prstGeom prst="ellipse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rect"/>
          <p:cNvSpPr/>
          <p:nvPr/>
        </p:nvSpPr>
        <p:spPr>
          <a:xfrm>
            <a:off x="4008120" y="3185160"/>
            <a:ext cx="2941320" cy="213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rect"/>
          <p:cNvSpPr/>
          <p:nvPr/>
        </p:nvSpPr>
        <p:spPr>
          <a:xfrm>
            <a:off x="4008120" y="3581400"/>
            <a:ext cx="2377440" cy="9144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rect"/>
          <p:cNvSpPr/>
          <p:nvPr/>
        </p:nvSpPr>
        <p:spPr>
          <a:xfrm>
            <a:off x="4008120" y="3840480"/>
            <a:ext cx="2651760" cy="9144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VG rect"/>
          <p:cNvSpPr/>
          <p:nvPr/>
        </p:nvSpPr>
        <p:spPr>
          <a:xfrm>
            <a:off x="4008120" y="4099560"/>
            <a:ext cx="2026920" cy="91440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SVG line"/>
          <p:cNvCxnSpPr/>
          <p:nvPr/>
        </p:nvCxnSpPr>
        <p:spPr>
          <a:xfrm>
            <a:off x="4008120" y="4526280"/>
            <a:ext cx="2804160" cy="0"/>
          </a:xfrm>
          <a:prstGeom prst="line">
            <a:avLst/>
          </a:prstGeom>
          <a:ln w="30480">
            <a:solidFill>
              <a:srgbClr val="155EEF"/>
            </a:solidFill>
          </a:ln>
        </p:spPr>
      </p:cxnSp>
      <p:sp>
        <p:nvSpPr>
          <p:cNvPr id="16" name="SVG text 1"/>
          <p:cNvSpPr txBox="1"/>
          <p:nvPr/>
        </p:nvSpPr>
        <p:spPr>
          <a:xfrm>
            <a:off x="4983480" y="5114849"/>
            <a:ext cx="193121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Microsoft YaHei"/>
              </a:rPr>
              <a:t>所有可见元素都在同一坐标系内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7985760" y="2059838"/>
            <a:ext cx="115580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55EEF"/>
                </a:solidFill>
                <a:latin typeface="Microsoft YaHei"/>
              </a:rPr>
              <a:t>同一份源文件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7985760" y="2475281"/>
            <a:ext cx="122773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Microsoft YaHei"/>
              </a:rPr>
              <a:t>定义视觉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7985760" y="2864815"/>
            <a:ext cx="219273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完整层级、空间、颜色与文案</a:t>
            </a:r>
          </a:p>
        </p:txBody>
      </p:sp>
      <p:cxnSp>
        <p:nvCxnSpPr>
          <p:cNvPr id="20" name="SVG line"/>
          <p:cNvCxnSpPr/>
          <p:nvPr/>
        </p:nvCxnSpPr>
        <p:spPr>
          <a:xfrm>
            <a:off x="7985760" y="3291840"/>
            <a:ext cx="3474720" cy="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21" name="SVG text 1"/>
          <p:cNvSpPr txBox="1"/>
          <p:nvPr/>
        </p:nvSpPr>
        <p:spPr>
          <a:xfrm>
            <a:off x="7985760" y="3465881"/>
            <a:ext cx="122773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Microsoft YaHei"/>
              </a:rPr>
              <a:t>生成预览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7985760" y="3855415"/>
            <a:ext cx="2251405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渲染 PNG，支持真实视觉复审</a:t>
            </a:r>
          </a:p>
        </p:txBody>
      </p:sp>
      <p:cxnSp>
        <p:nvCxnSpPr>
          <p:cNvPr id="23" name="SVG line"/>
          <p:cNvCxnSpPr/>
          <p:nvPr/>
        </p:nvCxnSpPr>
        <p:spPr>
          <a:xfrm>
            <a:off x="7985760" y="4282440"/>
            <a:ext cx="3474720" cy="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24" name="SVG text 1"/>
          <p:cNvSpPr txBox="1"/>
          <p:nvPr/>
        </p:nvSpPr>
        <p:spPr>
          <a:xfrm>
            <a:off x="7985760" y="4456481"/>
            <a:ext cx="122773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Microsoft YaHei"/>
              </a:rPr>
              <a:t>编译对象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7985760" y="4846015"/>
            <a:ext cx="224972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转换为 PowerPoint 原生内容</a:t>
            </a:r>
          </a:p>
        </p:txBody>
      </p:sp>
      <p:sp>
        <p:nvSpPr>
          <p:cNvPr id="26" name="SVG rect"/>
          <p:cNvSpPr/>
          <p:nvPr/>
        </p:nvSpPr>
        <p:spPr>
          <a:xfrm>
            <a:off x="7985760" y="5364480"/>
            <a:ext cx="3474720" cy="487680"/>
          </a:xfrm>
          <a:prstGeom prst="rect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VG text 1"/>
          <p:cNvSpPr txBox="1"/>
          <p:nvPr/>
        </p:nvSpPr>
        <p:spPr>
          <a:xfrm>
            <a:off x="8199120" y="5534558"/>
            <a:ext cx="255373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修改入口始终清晰：回到 SVG</a:t>
            </a:r>
          </a:p>
        </p:txBody>
      </p:sp>
      <p:sp>
        <p:nvSpPr>
          <p:cNvPr id="28" name="SVG text 1"/>
          <p:cNvSpPr txBox="1"/>
          <p:nvPr/>
        </p:nvSpPr>
        <p:spPr>
          <a:xfrm>
            <a:off x="11283696" y="62148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30788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FFFFFF"/>
                </a:solidFill>
                <a:latin typeface="Microsoft YaHei"/>
              </a:rPr>
              <a:t>原生优先，复杂元素明确降级而不丢失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45396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9CA3AF"/>
                </a:solidFill>
                <a:latin typeface="Microsoft YaHei"/>
              </a:rPr>
              <a:t>转换策略把编辑能力、视觉保真与失败边界都写进交付报告。</a:t>
            </a:r>
          </a:p>
        </p:txBody>
      </p:sp>
      <p:sp>
        <p:nvSpPr>
          <p:cNvPr id="5" name="SVG text 1"/>
          <p:cNvSpPr txBox="1"/>
          <p:nvPr/>
        </p:nvSpPr>
        <p:spPr>
          <a:xfrm>
            <a:off x="731520" y="2096567"/>
            <a:ext cx="24637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B8F34A"/>
                </a:solidFill>
                <a:latin typeface="Microsoft YaHei"/>
              </a:rPr>
              <a:t>01 · NATIVE POWERPOINT</a:t>
            </a:r>
          </a:p>
        </p:txBody>
      </p:sp>
      <p:sp>
        <p:nvSpPr>
          <p:cNvPr id="6" name="SVG rect"/>
          <p:cNvSpPr/>
          <p:nvPr/>
        </p:nvSpPr>
        <p:spPr>
          <a:xfrm>
            <a:off x="731520" y="2453640"/>
            <a:ext cx="8534400" cy="85344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VG text 1"/>
          <p:cNvSpPr txBox="1"/>
          <p:nvPr/>
        </p:nvSpPr>
        <p:spPr>
          <a:xfrm>
            <a:off x="1036320" y="2649931"/>
            <a:ext cx="511673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文本 · 矩形 · 圆形 · 直线 · 图片 · 基础分组</a:t>
            </a:r>
          </a:p>
        </p:txBody>
      </p:sp>
      <p:sp>
        <p:nvSpPr>
          <p:cNvPr id="8" name="SVG text 1"/>
          <p:cNvSpPr txBox="1"/>
          <p:nvPr/>
        </p:nvSpPr>
        <p:spPr>
          <a:xfrm>
            <a:off x="1036320" y="2999232"/>
            <a:ext cx="22981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8FF"/>
                </a:solidFill>
                <a:latin typeface="Microsoft YaHei"/>
              </a:rPr>
              <a:t>内容可搜索、可复制、可逐项编辑</a:t>
            </a:r>
          </a:p>
        </p:txBody>
      </p:sp>
      <p:sp>
        <p:nvSpPr>
          <p:cNvPr id="9" name="SVG text 1"/>
          <p:cNvSpPr txBox="1"/>
          <p:nvPr/>
        </p:nvSpPr>
        <p:spPr>
          <a:xfrm>
            <a:off x="9601200" y="2506675"/>
            <a:ext cx="118506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</a:rPr>
              <a:t>优先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731520" y="3666287"/>
            <a:ext cx="26478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D1D5DB"/>
                </a:solidFill>
                <a:latin typeface="Microsoft YaHei"/>
              </a:rPr>
              <a:t>02 · OFFICE SVG FALLBACK</a:t>
            </a:r>
          </a:p>
        </p:txBody>
      </p:sp>
      <p:sp>
        <p:nvSpPr>
          <p:cNvPr id="11" name="SVG rect"/>
          <p:cNvSpPr/>
          <p:nvPr/>
        </p:nvSpPr>
        <p:spPr>
          <a:xfrm>
            <a:off x="731520" y="4023360"/>
            <a:ext cx="6248400" cy="8534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text 1"/>
          <p:cNvSpPr txBox="1"/>
          <p:nvPr/>
        </p:nvSpPr>
        <p:spPr>
          <a:xfrm>
            <a:off x="1036320" y="4219651"/>
            <a:ext cx="297640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路径 · 渐变 · 裁剪 · 旋转</a:t>
            </a:r>
          </a:p>
        </p:txBody>
      </p:sp>
      <p:sp>
        <p:nvSpPr>
          <p:cNvPr id="13" name="SVG text 1"/>
          <p:cNvSpPr txBox="1"/>
          <p:nvPr/>
        </p:nvSpPr>
        <p:spPr>
          <a:xfrm>
            <a:off x="1036320" y="4568952"/>
            <a:ext cx="2907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1D5DB"/>
                </a:solidFill>
                <a:latin typeface="Microsoft YaHei"/>
              </a:rPr>
              <a:t>外观保留，对象整体可编辑；报告明确计数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7315200" y="4163873"/>
            <a:ext cx="954634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D1D5DB"/>
                </a:solidFill>
                <a:latin typeface="Microsoft YaHei"/>
              </a:rPr>
              <a:t>保真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731520" y="5236007"/>
            <a:ext cx="234161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CA5A5"/>
                </a:solidFill>
                <a:latin typeface="Microsoft YaHei"/>
              </a:rPr>
              <a:t>03 · EXPLICIT FAILURE</a:t>
            </a:r>
          </a:p>
        </p:txBody>
      </p:sp>
      <p:sp>
        <p:nvSpPr>
          <p:cNvPr id="16" name="SVG rect"/>
          <p:cNvSpPr/>
          <p:nvPr/>
        </p:nvSpPr>
        <p:spPr>
          <a:xfrm>
            <a:off x="731520" y="5593080"/>
            <a:ext cx="3962400" cy="548640"/>
          </a:xfrm>
          <a:prstGeom prst="rect">
            <a:avLst/>
          </a:prstGeom>
          <a:solidFill>
            <a:srgbClr val="111827"/>
          </a:solidFill>
          <a:ln w="22860">
            <a:solidFill>
              <a:srgbClr val="EF44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VG text 1"/>
          <p:cNvSpPr txBox="1"/>
          <p:nvPr/>
        </p:nvSpPr>
        <p:spPr>
          <a:xfrm>
            <a:off x="1036320" y="5781142"/>
            <a:ext cx="269443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Microsoft YaHei"/>
              </a:rPr>
              <a:t>无可靠路径：阻止交付并诊断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5029200" y="5731154"/>
            <a:ext cx="163738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CA5A5"/>
                </a:solidFill>
                <a:latin typeface="Microsoft YaHei"/>
              </a:rPr>
              <a:t>绝不静默丢失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11283696" y="62910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CA3AF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34212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质量不是“能打开”，而是可验证的闭环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577016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每一轮都把结构正确、视觉判断与 PowerPoint 实际表现放在同一条链路上。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2118360" y="2514600"/>
            <a:ext cx="7955280" cy="0"/>
          </a:xfrm>
          <a:prstGeom prst="line">
            <a:avLst/>
          </a:prstGeom>
          <a:ln w="38100">
            <a:solidFill>
              <a:srgbClr val="155EEF"/>
            </a:solidFill>
          </a:ln>
        </p:spPr>
      </p:cxnSp>
      <p:cxnSp>
        <p:nvCxnSpPr>
          <p:cNvPr id="6" name="SVG line"/>
          <p:cNvCxnSpPr/>
          <p:nvPr/>
        </p:nvCxnSpPr>
        <p:spPr>
          <a:xfrm>
            <a:off x="10073640" y="2514600"/>
            <a:ext cx="0" cy="2209800"/>
          </a:xfrm>
          <a:prstGeom prst="line">
            <a:avLst/>
          </a:prstGeom>
          <a:ln w="38100">
            <a:solidFill>
              <a:srgbClr val="155EEF"/>
            </a:solidFill>
          </a:ln>
        </p:spPr>
      </p:cxnSp>
      <p:cxnSp>
        <p:nvCxnSpPr>
          <p:cNvPr id="7" name="SVG line"/>
          <p:cNvCxnSpPr/>
          <p:nvPr/>
        </p:nvCxnSpPr>
        <p:spPr>
          <a:xfrm flipH="1">
            <a:off x="2118360" y="4724400"/>
            <a:ext cx="7955280" cy="0"/>
          </a:xfrm>
          <a:prstGeom prst="line">
            <a:avLst/>
          </a:prstGeom>
          <a:ln w="38100">
            <a:solidFill>
              <a:srgbClr val="155EEF"/>
            </a:solidFill>
          </a:ln>
        </p:spPr>
      </p:cxnSp>
      <p:cxnSp>
        <p:nvCxnSpPr>
          <p:cNvPr id="8" name="SVG line"/>
          <p:cNvCxnSpPr/>
          <p:nvPr/>
        </p:nvCxnSpPr>
        <p:spPr>
          <a:xfrm flipV="1">
            <a:off x="2118360" y="2514600"/>
            <a:ext cx="0" cy="2209800"/>
          </a:xfrm>
          <a:prstGeom prst="line">
            <a:avLst/>
          </a:prstGeom>
          <a:ln w="38100">
            <a:solidFill>
              <a:srgbClr val="155EEF"/>
            </a:solidFill>
          </a:ln>
        </p:spPr>
      </p:cxnSp>
      <p:sp>
        <p:nvSpPr>
          <p:cNvPr id="9" name="SVG circle"/>
          <p:cNvSpPr/>
          <p:nvPr/>
        </p:nvSpPr>
        <p:spPr>
          <a:xfrm>
            <a:off x="1722120" y="2118360"/>
            <a:ext cx="792480" cy="79248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circle"/>
          <p:cNvSpPr/>
          <p:nvPr/>
        </p:nvSpPr>
        <p:spPr>
          <a:xfrm>
            <a:off x="4373880" y="2118360"/>
            <a:ext cx="792480" cy="7924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circle"/>
          <p:cNvSpPr/>
          <p:nvPr/>
        </p:nvSpPr>
        <p:spPr>
          <a:xfrm>
            <a:off x="7025640" y="2118360"/>
            <a:ext cx="792480" cy="7924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circle"/>
          <p:cNvSpPr/>
          <p:nvPr/>
        </p:nvSpPr>
        <p:spPr>
          <a:xfrm>
            <a:off x="9677400" y="2118360"/>
            <a:ext cx="792480" cy="7924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circle"/>
          <p:cNvSpPr/>
          <p:nvPr/>
        </p:nvSpPr>
        <p:spPr>
          <a:xfrm>
            <a:off x="9677400" y="4328160"/>
            <a:ext cx="792480" cy="792480"/>
          </a:xfrm>
          <a:prstGeom prst="ellipse">
            <a:avLst/>
          </a:prstGeom>
          <a:solidFill>
            <a:srgbClr val="B8F34A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VG circle"/>
          <p:cNvSpPr/>
          <p:nvPr/>
        </p:nvSpPr>
        <p:spPr>
          <a:xfrm>
            <a:off x="5699760" y="4328160"/>
            <a:ext cx="792480" cy="7924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VG circle"/>
          <p:cNvSpPr/>
          <p:nvPr/>
        </p:nvSpPr>
        <p:spPr>
          <a:xfrm>
            <a:off x="1722120" y="4328160"/>
            <a:ext cx="792480" cy="7924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VG text 1"/>
          <p:cNvSpPr txBox="1"/>
          <p:nvPr/>
        </p:nvSpPr>
        <p:spPr>
          <a:xfrm>
            <a:off x="2008047" y="24408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4659807" y="24408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02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7311567" y="24408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03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9963327" y="24408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04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9963327" y="46506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05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5985687" y="46506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06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2008047" y="4650638"/>
            <a:ext cx="23525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07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1704685" y="1724558"/>
            <a:ext cx="8419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校验 SVG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4356445" y="1724558"/>
            <a:ext cx="8419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渲染 PNG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7041490" y="172455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视觉复审</a:t>
            </a:r>
          </a:p>
        </p:txBody>
      </p:sp>
      <p:sp>
        <p:nvSpPr>
          <p:cNvPr id="26" name="SVG text 1"/>
          <p:cNvSpPr txBox="1"/>
          <p:nvPr/>
        </p:nvSpPr>
        <p:spPr>
          <a:xfrm>
            <a:off x="9693250" y="172455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修改源稿</a:t>
            </a:r>
          </a:p>
        </p:txBody>
      </p:sp>
      <p:sp>
        <p:nvSpPr>
          <p:cNvPr id="27" name="SVG text 1"/>
          <p:cNvSpPr txBox="1"/>
          <p:nvPr/>
        </p:nvSpPr>
        <p:spPr>
          <a:xfrm>
            <a:off x="10505700" y="4635398"/>
            <a:ext cx="96941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编译 PPTX</a:t>
            </a:r>
          </a:p>
        </p:txBody>
      </p:sp>
      <p:sp>
        <p:nvSpPr>
          <p:cNvPr id="28" name="SVG text 1"/>
          <p:cNvSpPr txBox="1"/>
          <p:nvPr/>
        </p:nvSpPr>
        <p:spPr>
          <a:xfrm>
            <a:off x="5620512" y="5321198"/>
            <a:ext cx="96560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包结构验证</a:t>
            </a:r>
          </a:p>
        </p:txBody>
      </p:sp>
      <p:sp>
        <p:nvSpPr>
          <p:cNvPr id="29" name="SVG text 1"/>
          <p:cNvSpPr txBox="1"/>
          <p:nvPr/>
        </p:nvSpPr>
        <p:spPr>
          <a:xfrm>
            <a:off x="1547774" y="5321198"/>
            <a:ext cx="115580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Microsoft YaHei"/>
              </a:rPr>
              <a:t>实际渲染检查</a:t>
            </a:r>
          </a:p>
        </p:txBody>
      </p:sp>
      <p:sp>
        <p:nvSpPr>
          <p:cNvPr id="30" name="SVG text 1"/>
          <p:cNvSpPr txBox="1"/>
          <p:nvPr/>
        </p:nvSpPr>
        <p:spPr>
          <a:xfrm>
            <a:off x="4923130" y="2814218"/>
            <a:ext cx="2390851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50" b="1" i="0">
                <a:solidFill>
                  <a:srgbClr val="111827"/>
                </a:solidFill>
                <a:latin typeface="Microsoft YaHei"/>
              </a:rPr>
              <a:t>看见结果</a:t>
            </a:r>
          </a:p>
        </p:txBody>
      </p:sp>
      <p:sp>
        <p:nvSpPr>
          <p:cNvPr id="31" name="SVG text 1"/>
          <p:cNvSpPr txBox="1"/>
          <p:nvPr/>
        </p:nvSpPr>
        <p:spPr>
          <a:xfrm>
            <a:off x="4052011" y="3635045"/>
            <a:ext cx="410504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B7280"/>
                </a:solidFill>
                <a:latin typeface="Microsoft YaHei"/>
              </a:rPr>
              <a:t>结构检查负责“正确”，视觉复审负责“可信”</a:t>
            </a:r>
          </a:p>
        </p:txBody>
      </p:sp>
      <p:sp>
        <p:nvSpPr>
          <p:cNvPr id="32" name="SVG rect"/>
          <p:cNvSpPr/>
          <p:nvPr/>
        </p:nvSpPr>
        <p:spPr>
          <a:xfrm>
            <a:off x="4343400" y="3977640"/>
            <a:ext cx="3505200" cy="274320"/>
          </a:xfrm>
          <a:prstGeom prst="rect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VG text 1"/>
          <p:cNvSpPr txBox="1"/>
          <p:nvPr/>
        </p:nvSpPr>
        <p:spPr>
          <a:xfrm>
            <a:off x="5224272" y="4038295"/>
            <a:ext cx="1756867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11827"/>
                </a:solidFill>
                <a:latin typeface="Microsoft YaHei"/>
              </a:rPr>
              <a:t>全部通过，才进入交付</a:t>
            </a:r>
          </a:p>
        </p:txBody>
      </p:sp>
      <p:sp>
        <p:nvSpPr>
          <p:cNvPr id="34" name="SVG text 1"/>
          <p:cNvSpPr txBox="1"/>
          <p:nvPr/>
        </p:nvSpPr>
        <p:spPr>
          <a:xfrm>
            <a:off x="11283696" y="62148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773582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指令、知识与工具分层，项目因此可维护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612556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仓库结构本身就是产品边界：Agent 行为写进 Skill，确定性行为留在 scripts。</a:t>
            </a:r>
          </a:p>
        </p:txBody>
      </p:sp>
      <p:sp>
        <p:nvSpPr>
          <p:cNvPr id="5" name="SVG text 1"/>
          <p:cNvSpPr txBox="1"/>
          <p:nvPr/>
        </p:nvSpPr>
        <p:spPr>
          <a:xfrm>
            <a:off x="731520" y="1779270"/>
            <a:ext cx="31177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155EEF"/>
                </a:solidFill>
                <a:latin typeface="Consolas"/>
              </a:rPr>
              <a:t>.agents/skills/vectordeckppt/</a:t>
            </a:r>
          </a:p>
        </p:txBody>
      </p:sp>
      <p:cxnSp>
        <p:nvCxnSpPr>
          <p:cNvPr id="6" name="SVG line"/>
          <p:cNvCxnSpPr/>
          <p:nvPr/>
        </p:nvCxnSpPr>
        <p:spPr>
          <a:xfrm>
            <a:off x="960120" y="2148840"/>
            <a:ext cx="0" cy="310896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cxnSp>
        <p:nvCxnSpPr>
          <p:cNvPr id="7" name="SVG line"/>
          <p:cNvCxnSpPr/>
          <p:nvPr/>
        </p:nvCxnSpPr>
        <p:spPr>
          <a:xfrm>
            <a:off x="960120" y="2575560"/>
            <a:ext cx="457200" cy="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sp>
        <p:nvSpPr>
          <p:cNvPr id="8" name="SVG circle"/>
          <p:cNvSpPr/>
          <p:nvPr/>
        </p:nvSpPr>
        <p:spPr>
          <a:xfrm>
            <a:off x="899160" y="2514600"/>
            <a:ext cx="121920" cy="12192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VG text 1"/>
          <p:cNvSpPr txBox="1"/>
          <p:nvPr/>
        </p:nvSpPr>
        <p:spPr>
          <a:xfrm>
            <a:off x="1630680" y="2439314"/>
            <a:ext cx="135985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Consolas"/>
              </a:rPr>
              <a:t>SKILL.md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4267200" y="2478938"/>
            <a:ext cx="275783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74151"/>
                </a:solidFill>
                <a:latin typeface="Microsoft YaHei"/>
              </a:rPr>
              <a:t>完整工作流、职责边界与触发条件</a:t>
            </a:r>
          </a:p>
        </p:txBody>
      </p:sp>
      <p:cxnSp>
        <p:nvCxnSpPr>
          <p:cNvPr id="11" name="SVG line"/>
          <p:cNvCxnSpPr/>
          <p:nvPr/>
        </p:nvCxnSpPr>
        <p:spPr>
          <a:xfrm>
            <a:off x="960120" y="3322320"/>
            <a:ext cx="457200" cy="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sp>
        <p:nvSpPr>
          <p:cNvPr id="12" name="SVG circle"/>
          <p:cNvSpPr/>
          <p:nvPr/>
        </p:nvSpPr>
        <p:spPr>
          <a:xfrm>
            <a:off x="899160" y="3261360"/>
            <a:ext cx="121920" cy="12192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text 1"/>
          <p:cNvSpPr txBox="1"/>
          <p:nvPr/>
        </p:nvSpPr>
        <p:spPr>
          <a:xfrm>
            <a:off x="1630680" y="3186074"/>
            <a:ext cx="16212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Consolas"/>
              </a:rPr>
              <a:t>references/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4267200" y="3225698"/>
            <a:ext cx="282183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74151"/>
                </a:solidFill>
                <a:latin typeface="Microsoft YaHei"/>
              </a:rPr>
              <a:t>叙事、艺术方向、SVG 与复审知识</a:t>
            </a:r>
          </a:p>
        </p:txBody>
      </p:sp>
      <p:cxnSp>
        <p:nvCxnSpPr>
          <p:cNvPr id="15" name="SVG line"/>
          <p:cNvCxnSpPr/>
          <p:nvPr/>
        </p:nvCxnSpPr>
        <p:spPr>
          <a:xfrm>
            <a:off x="960120" y="4069080"/>
            <a:ext cx="457200" cy="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sp>
        <p:nvSpPr>
          <p:cNvPr id="16" name="SVG circle"/>
          <p:cNvSpPr/>
          <p:nvPr/>
        </p:nvSpPr>
        <p:spPr>
          <a:xfrm>
            <a:off x="899160" y="4008120"/>
            <a:ext cx="121920" cy="12192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VG text 1"/>
          <p:cNvSpPr txBox="1"/>
          <p:nvPr/>
        </p:nvSpPr>
        <p:spPr>
          <a:xfrm>
            <a:off x="1630680" y="3932834"/>
            <a:ext cx="118472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Consolas"/>
              </a:rPr>
              <a:t>scripts/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4267200" y="3972458"/>
            <a:ext cx="257495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74151"/>
                </a:solidFill>
                <a:latin typeface="Microsoft YaHei"/>
              </a:rPr>
              <a:t>校验、渲染、编译与包验证工具</a:t>
            </a:r>
          </a:p>
        </p:txBody>
      </p:sp>
      <p:cxnSp>
        <p:nvCxnSpPr>
          <p:cNvPr id="19" name="SVG line"/>
          <p:cNvCxnSpPr/>
          <p:nvPr/>
        </p:nvCxnSpPr>
        <p:spPr>
          <a:xfrm>
            <a:off x="960120" y="4815840"/>
            <a:ext cx="457200" cy="0"/>
          </a:xfrm>
          <a:prstGeom prst="line">
            <a:avLst/>
          </a:prstGeom>
          <a:ln w="22860">
            <a:solidFill>
              <a:srgbClr val="111827"/>
            </a:solidFill>
          </a:ln>
        </p:spPr>
      </p:cxnSp>
      <p:sp>
        <p:nvSpPr>
          <p:cNvPr id="20" name="SVG circle"/>
          <p:cNvSpPr/>
          <p:nvPr/>
        </p:nvSpPr>
        <p:spPr>
          <a:xfrm>
            <a:off x="899160" y="4754880"/>
            <a:ext cx="121920" cy="12192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VG text 1"/>
          <p:cNvSpPr txBox="1"/>
          <p:nvPr/>
        </p:nvSpPr>
        <p:spPr>
          <a:xfrm>
            <a:off x="1630680" y="4679594"/>
            <a:ext cx="103922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11827"/>
                </a:solidFill>
                <a:latin typeface="Consolas"/>
              </a:rPr>
              <a:t>assets/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4267200" y="4719218"/>
            <a:ext cx="239207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74151"/>
                </a:solidFill>
                <a:latin typeface="Microsoft YaHei"/>
              </a:rPr>
              <a:t>可复用主题、图标与项目资产</a:t>
            </a:r>
          </a:p>
        </p:txBody>
      </p:sp>
      <p:sp>
        <p:nvSpPr>
          <p:cNvPr id="23" name="SVG rect"/>
          <p:cNvSpPr/>
          <p:nvPr/>
        </p:nvSpPr>
        <p:spPr>
          <a:xfrm>
            <a:off x="7848600" y="1950720"/>
            <a:ext cx="3611880" cy="2773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VG text 1"/>
          <p:cNvSpPr txBox="1"/>
          <p:nvPr/>
        </p:nvSpPr>
        <p:spPr>
          <a:xfrm>
            <a:off x="8183880" y="2300935"/>
            <a:ext cx="252573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ARCHITECTURE INVARIANT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8183880" y="2780081"/>
            <a:ext cx="188121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Microsoft YaHei"/>
              </a:rPr>
              <a:t>Agent 做判断</a:t>
            </a:r>
          </a:p>
        </p:txBody>
      </p:sp>
      <p:cxnSp>
        <p:nvCxnSpPr>
          <p:cNvPr id="26" name="SVG line"/>
          <p:cNvCxnSpPr/>
          <p:nvPr/>
        </p:nvCxnSpPr>
        <p:spPr>
          <a:xfrm>
            <a:off x="8183880" y="3246120"/>
            <a:ext cx="2926080" cy="0"/>
          </a:xfrm>
          <a:prstGeom prst="line">
            <a:avLst/>
          </a:prstGeom>
          <a:ln w="15240">
            <a:solidFill>
              <a:srgbClr val="4B5563"/>
            </a:solidFill>
          </a:ln>
        </p:spPr>
      </p:cxnSp>
      <p:sp>
        <p:nvSpPr>
          <p:cNvPr id="27" name="SVG text 1"/>
          <p:cNvSpPr txBox="1"/>
          <p:nvPr/>
        </p:nvSpPr>
        <p:spPr>
          <a:xfrm>
            <a:off x="8183880" y="3465881"/>
            <a:ext cx="152887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Microsoft YaHei"/>
              </a:rPr>
              <a:t>脚本做执行</a:t>
            </a:r>
          </a:p>
        </p:txBody>
      </p:sp>
      <p:cxnSp>
        <p:nvCxnSpPr>
          <p:cNvPr id="28" name="SVG line"/>
          <p:cNvCxnSpPr/>
          <p:nvPr/>
        </p:nvCxnSpPr>
        <p:spPr>
          <a:xfrm>
            <a:off x="8183880" y="3931920"/>
            <a:ext cx="2926080" cy="0"/>
          </a:xfrm>
          <a:prstGeom prst="line">
            <a:avLst/>
          </a:prstGeom>
          <a:ln w="15240">
            <a:solidFill>
              <a:srgbClr val="4B5563"/>
            </a:solidFill>
          </a:ln>
        </p:spPr>
      </p:cxnSp>
      <p:sp>
        <p:nvSpPr>
          <p:cNvPr id="29" name="SVG text 1"/>
          <p:cNvSpPr txBox="1"/>
          <p:nvPr/>
        </p:nvSpPr>
        <p:spPr>
          <a:xfrm>
            <a:off x="8183880" y="4151681"/>
            <a:ext cx="163427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Microsoft YaHei"/>
              </a:rPr>
              <a:t>SVG 做真源</a:t>
            </a:r>
          </a:p>
        </p:txBody>
      </p:sp>
      <p:sp>
        <p:nvSpPr>
          <p:cNvPr id="30" name="SVG rect"/>
          <p:cNvSpPr/>
          <p:nvPr/>
        </p:nvSpPr>
        <p:spPr>
          <a:xfrm>
            <a:off x="731520" y="5547360"/>
            <a:ext cx="10728960" cy="48768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VG text 1"/>
          <p:cNvSpPr txBox="1"/>
          <p:nvPr/>
        </p:nvSpPr>
        <p:spPr>
          <a:xfrm>
            <a:off x="3120396" y="5692445"/>
            <a:ext cx="5968277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</a:rPr>
              <a:t>不引入 AI Provider SDK，边界因此清晰、可移植、可审查</a:t>
            </a:r>
          </a:p>
        </p:txBody>
      </p:sp>
      <p:sp>
        <p:nvSpPr>
          <p:cNvPr id="32" name="SVG text 1"/>
          <p:cNvSpPr txBox="1"/>
          <p:nvPr/>
        </p:nvSpPr>
        <p:spPr>
          <a:xfrm>
            <a:off x="11283696" y="62910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561746"/>
            <a:ext cx="632790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111827"/>
                </a:solidFill>
                <a:latin typeface="Microsoft YaHei"/>
              </a:rPr>
              <a:t>V1.0 已经通过可重复的工程验证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127455"/>
            <a:ext cx="420441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数字不是装饰，而是证明这条向量工作流已经完整跑通。</a:t>
            </a:r>
          </a:p>
        </p:txBody>
      </p:sp>
      <p:sp>
        <p:nvSpPr>
          <p:cNvPr id="5" name="SVG text 1"/>
          <p:cNvSpPr txBox="1"/>
          <p:nvPr/>
        </p:nvSpPr>
        <p:spPr>
          <a:xfrm>
            <a:off x="731520" y="1838554"/>
            <a:ext cx="1921264" cy="1792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0" b="1" i="0">
                <a:solidFill>
                  <a:srgbClr val="155EEF"/>
                </a:solidFill>
                <a:latin typeface="Microsoft YaHei"/>
              </a:rPr>
              <a:t>40</a:t>
            </a:r>
          </a:p>
        </p:txBody>
      </p:sp>
      <p:sp>
        <p:nvSpPr>
          <p:cNvPr id="6" name="SVG text 1"/>
          <p:cNvSpPr txBox="1"/>
          <p:nvPr/>
        </p:nvSpPr>
        <p:spPr>
          <a:xfrm>
            <a:off x="853440" y="3914851"/>
            <a:ext cx="154106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Microsoft YaHei"/>
              </a:rPr>
              <a:t>项自动化测试</a:t>
            </a:r>
          </a:p>
        </p:txBody>
      </p:sp>
      <p:sp>
        <p:nvSpPr>
          <p:cNvPr id="7" name="SVG text 1"/>
          <p:cNvSpPr txBox="1"/>
          <p:nvPr/>
        </p:nvSpPr>
        <p:spPr>
          <a:xfrm>
            <a:off x="853440" y="4312615"/>
            <a:ext cx="319857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B7280"/>
                </a:solidFill>
                <a:latin typeface="Microsoft YaHei"/>
              </a:rPr>
              <a:t>覆盖解析、校验、渲染、编译与端到端流程</a:t>
            </a:r>
          </a:p>
        </p:txBody>
      </p:sp>
      <p:cxnSp>
        <p:nvCxnSpPr>
          <p:cNvPr id="8" name="SVG line"/>
          <p:cNvCxnSpPr/>
          <p:nvPr/>
        </p:nvCxnSpPr>
        <p:spPr>
          <a:xfrm>
            <a:off x="4876800" y="1813560"/>
            <a:ext cx="0" cy="381000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9" name="SVG text 1"/>
          <p:cNvSpPr txBox="1"/>
          <p:nvPr/>
        </p:nvSpPr>
        <p:spPr>
          <a:xfrm>
            <a:off x="5410200" y="1986686"/>
            <a:ext cx="541422" cy="950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111827"/>
                </a:solidFill>
                <a:latin typeface="Microsoft YaHei"/>
              </a:rPr>
              <a:t>2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6248400" y="2232965"/>
            <a:ext cx="112654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11827"/>
                </a:solidFill>
                <a:latin typeface="Microsoft YaHei"/>
              </a:rPr>
              <a:t>套安装路径</a:t>
            </a:r>
          </a:p>
        </p:txBody>
      </p:sp>
      <p:sp>
        <p:nvSpPr>
          <p:cNvPr id="11" name="SVG text 1"/>
          <p:cNvSpPr txBox="1"/>
          <p:nvPr/>
        </p:nvSpPr>
        <p:spPr>
          <a:xfrm>
            <a:off x="6248400" y="2594000"/>
            <a:ext cx="187924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280"/>
                </a:solidFill>
                <a:latin typeface="Microsoft YaHei"/>
              </a:rPr>
              <a:t>uv + pip requirements.txt</a:t>
            </a:r>
          </a:p>
        </p:txBody>
      </p:sp>
      <p:cxnSp>
        <p:nvCxnSpPr>
          <p:cNvPr id="12" name="SVG line"/>
          <p:cNvCxnSpPr/>
          <p:nvPr/>
        </p:nvCxnSpPr>
        <p:spPr>
          <a:xfrm>
            <a:off x="5410200" y="3093720"/>
            <a:ext cx="2362200" cy="0"/>
          </a:xfrm>
          <a:prstGeom prst="line">
            <a:avLst/>
          </a:prstGeom>
          <a:ln w="15240">
            <a:solidFill>
              <a:srgbClr val="D4CFC4"/>
            </a:solidFill>
          </a:ln>
        </p:spPr>
      </p:cxnSp>
      <p:sp>
        <p:nvSpPr>
          <p:cNvPr id="13" name="SVG text 1"/>
          <p:cNvSpPr txBox="1"/>
          <p:nvPr/>
        </p:nvSpPr>
        <p:spPr>
          <a:xfrm>
            <a:off x="5410200" y="3663086"/>
            <a:ext cx="541422" cy="950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111827"/>
                </a:solidFill>
                <a:latin typeface="Microsoft YaHei"/>
              </a:rPr>
              <a:t>5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6248400" y="3909365"/>
            <a:ext cx="134843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11827"/>
                </a:solidFill>
                <a:latin typeface="Microsoft YaHei"/>
              </a:rPr>
              <a:t>页可编辑示例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6248400" y="4248912"/>
            <a:ext cx="18409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完整经历校验、渲染与编译</a:t>
            </a:r>
          </a:p>
        </p:txBody>
      </p:sp>
      <p:sp>
        <p:nvSpPr>
          <p:cNvPr id="16" name="SVG text 1"/>
          <p:cNvSpPr txBox="1"/>
          <p:nvPr/>
        </p:nvSpPr>
        <p:spPr>
          <a:xfrm>
            <a:off x="6248400" y="4507992"/>
            <a:ext cx="16885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并通过重开与包结构验证</a:t>
            </a:r>
          </a:p>
        </p:txBody>
      </p:sp>
      <p:sp>
        <p:nvSpPr>
          <p:cNvPr id="17" name="SVG rect"/>
          <p:cNvSpPr/>
          <p:nvPr/>
        </p:nvSpPr>
        <p:spPr>
          <a:xfrm>
            <a:off x="8534400" y="1813560"/>
            <a:ext cx="2926080" cy="381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VG text 1"/>
          <p:cNvSpPr txBox="1"/>
          <p:nvPr/>
        </p:nvSpPr>
        <p:spPr>
          <a:xfrm>
            <a:off x="8869680" y="2118055"/>
            <a:ext cx="159123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EXAMPLE REPORT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8869680" y="2600249"/>
            <a:ext cx="1156679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50" b="1" i="0">
                <a:solidFill>
                  <a:srgbClr val="FFFFFF"/>
                </a:solidFill>
                <a:latin typeface="Microsoft YaHei"/>
              </a:rPr>
              <a:t>96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8869680" y="4007053"/>
            <a:ext cx="244287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FFFFF"/>
                </a:solidFill>
                <a:latin typeface="Microsoft YaHei"/>
              </a:rPr>
              <a:t>个原生 PowerPoint 对象</a:t>
            </a:r>
          </a:p>
        </p:txBody>
      </p:sp>
      <p:cxnSp>
        <p:nvCxnSpPr>
          <p:cNvPr id="21" name="SVG line"/>
          <p:cNvCxnSpPr/>
          <p:nvPr/>
        </p:nvCxnSpPr>
        <p:spPr>
          <a:xfrm>
            <a:off x="8869680" y="4450080"/>
            <a:ext cx="2255520" cy="0"/>
          </a:xfrm>
          <a:prstGeom prst="line">
            <a:avLst/>
          </a:prstGeom>
          <a:ln w="15240">
            <a:solidFill>
              <a:srgbClr val="4B5563"/>
            </a:solidFill>
          </a:ln>
        </p:spPr>
      </p:cxnSp>
      <p:sp>
        <p:nvSpPr>
          <p:cNvPr id="22" name="SVG text 1"/>
          <p:cNvSpPr txBox="1"/>
          <p:nvPr/>
        </p:nvSpPr>
        <p:spPr>
          <a:xfrm>
            <a:off x="8869680" y="4652620"/>
            <a:ext cx="1306202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B8F34A"/>
                </a:solidFill>
                <a:latin typeface="Microsoft YaHei"/>
              </a:rPr>
              <a:t>0 fallback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8869680" y="5003140"/>
            <a:ext cx="104088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B8F34A"/>
                </a:solidFill>
                <a:latin typeface="Microsoft YaHei"/>
              </a:rPr>
              <a:t>0 failed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8869680" y="5404409"/>
            <a:ext cx="247573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CA3AF"/>
                </a:solidFill>
                <a:latin typeface="Microsoft YaHei"/>
              </a:rPr>
              <a:t>V1.0 basic-deck compilation report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731520" y="6138672"/>
            <a:ext cx="18867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RELEASED · 2026.08.09</a:t>
            </a:r>
          </a:p>
        </p:txBody>
      </p:sp>
      <p:sp>
        <p:nvSpPr>
          <p:cNvPr id="26" name="SVG text 1"/>
          <p:cNvSpPr txBox="1"/>
          <p:nvPr/>
        </p:nvSpPr>
        <p:spPr>
          <a:xfrm>
            <a:off x="11283696" y="61386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761695"/>
            <a:ext cx="106645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B8F34A"/>
                </a:solidFill>
                <a:latin typeface="Microsoft YaHei"/>
              </a:rPr>
              <a:t>HOW TO USE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456639"/>
            <a:ext cx="8390534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 i="0">
                <a:solidFill>
                  <a:srgbClr val="FFFFFF"/>
                </a:solidFill>
                <a:latin typeface="Microsoft YaHei"/>
              </a:rPr>
              <a:t>一句调用，得到可继续维护的演示文稿</a:t>
            </a:r>
          </a:p>
        </p:txBody>
      </p:sp>
      <p:sp>
        <p:nvSpPr>
          <p:cNvPr id="5" name="SVG rect"/>
          <p:cNvSpPr/>
          <p:nvPr/>
        </p:nvSpPr>
        <p:spPr>
          <a:xfrm>
            <a:off x="731520" y="2331720"/>
            <a:ext cx="10728960" cy="1143000"/>
          </a:xfrm>
          <a:prstGeom prst="rect">
            <a:avLst/>
          </a:prstGeom>
          <a:solidFill>
            <a:srgbClr val="0B1220"/>
          </a:solidFill>
          <a:ln w="15240">
            <a:solidFill>
              <a:srgbClr val="4B55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VG text 1"/>
          <p:cNvSpPr txBox="1"/>
          <p:nvPr/>
        </p:nvSpPr>
        <p:spPr>
          <a:xfrm>
            <a:off x="1036320" y="2597201"/>
            <a:ext cx="2299801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B8F34A"/>
                </a:solidFill>
                <a:latin typeface="Consolas"/>
              </a:rPr>
              <a:t>$vectordeckppt</a:t>
            </a:r>
          </a:p>
        </p:txBody>
      </p:sp>
      <p:sp>
        <p:nvSpPr>
          <p:cNvPr id="7" name="SVG text 1"/>
          <p:cNvSpPr txBox="1"/>
          <p:nvPr/>
        </p:nvSpPr>
        <p:spPr>
          <a:xfrm>
            <a:off x="1036320" y="3022702"/>
            <a:ext cx="6793535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FFFFFF"/>
                </a:solidFill>
                <a:latin typeface="Microsoft YaHei"/>
              </a:rPr>
              <a:t>根据项目资料制作 10 页中文介绍，保留源 SVG、编译报告与可编辑 PPTX。</a:t>
            </a:r>
          </a:p>
        </p:txBody>
      </p:sp>
      <p:cxnSp>
        <p:nvCxnSpPr>
          <p:cNvPr id="8" name="SVG line"/>
          <p:cNvCxnSpPr/>
          <p:nvPr/>
        </p:nvCxnSpPr>
        <p:spPr>
          <a:xfrm>
            <a:off x="1920240" y="4541520"/>
            <a:ext cx="8351520" cy="0"/>
          </a:xfrm>
          <a:prstGeom prst="line">
            <a:avLst/>
          </a:prstGeom>
          <a:ln w="30480">
            <a:solidFill>
              <a:srgbClr val="4B5563"/>
            </a:solidFill>
          </a:ln>
        </p:spPr>
      </p:cxnSp>
      <p:sp>
        <p:nvSpPr>
          <p:cNvPr id="9" name="SVG circle"/>
          <p:cNvSpPr/>
          <p:nvPr/>
        </p:nvSpPr>
        <p:spPr>
          <a:xfrm>
            <a:off x="1584960" y="4206240"/>
            <a:ext cx="670560" cy="67056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circle"/>
          <p:cNvSpPr/>
          <p:nvPr/>
        </p:nvSpPr>
        <p:spPr>
          <a:xfrm>
            <a:off x="4366260" y="4206240"/>
            <a:ext cx="670560" cy="67056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circle"/>
          <p:cNvSpPr/>
          <p:nvPr/>
        </p:nvSpPr>
        <p:spPr>
          <a:xfrm>
            <a:off x="7155180" y="4206240"/>
            <a:ext cx="670560" cy="67056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circle"/>
          <p:cNvSpPr/>
          <p:nvPr/>
        </p:nvSpPr>
        <p:spPr>
          <a:xfrm>
            <a:off x="9936480" y="4206240"/>
            <a:ext cx="670560" cy="670560"/>
          </a:xfrm>
          <a:prstGeom prst="ellipse">
            <a:avLst/>
          </a:prstGeom>
          <a:solidFill>
            <a:srgbClr val="B8F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text 1"/>
          <p:cNvSpPr txBox="1"/>
          <p:nvPr/>
        </p:nvSpPr>
        <p:spPr>
          <a:xfrm>
            <a:off x="1819120" y="4480255"/>
            <a:ext cx="2156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4600420" y="4480255"/>
            <a:ext cx="2156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7389340" y="4480255"/>
            <a:ext cx="2156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SVG text 1"/>
          <p:cNvSpPr txBox="1"/>
          <p:nvPr/>
        </p:nvSpPr>
        <p:spPr>
          <a:xfrm>
            <a:off x="10170640" y="4480255"/>
            <a:ext cx="2156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11827"/>
                </a:solidFill>
                <a:latin typeface="Microsoft YaHei"/>
              </a:rPr>
              <a:t>04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1508150" y="5064862"/>
            <a:ext cx="84002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Microsoft YaHei"/>
              </a:rPr>
              <a:t>输入资料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4253393" y="5064862"/>
            <a:ext cx="912144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Microsoft YaHei"/>
              </a:rPr>
              <a:t>逐页 SVG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7078370" y="5064862"/>
            <a:ext cx="84002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Microsoft YaHei"/>
              </a:rPr>
              <a:t>视觉复审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9663928" y="5064862"/>
            <a:ext cx="1231514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Microsoft YaHei"/>
              </a:rPr>
              <a:t>PPTX + 报告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731520" y="5914034"/>
            <a:ext cx="352348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Microsoft YaHei"/>
              </a:rPr>
              <a:t>让创意可见，让交付可验证。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11283696" y="6214872"/>
            <a:ext cx="1889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CA3AF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