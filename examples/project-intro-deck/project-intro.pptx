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672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10058400" y="0"/>
            <a:ext cx="2133600" cy="91440"/>
          </a:xfrm>
          <a:prstGeom prst="rect">
            <a:avLst/>
          </a:prstGeom>
          <a:solidFill>
            <a:srgbClr val="42A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text 1"/>
          <p:cNvSpPr txBox="1"/>
          <p:nvPr/>
        </p:nvSpPr>
        <p:spPr>
          <a:xfrm>
            <a:off x="731520" y="487375"/>
            <a:ext cx="297205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VECTORDECKPPT · AGENT SKILL</a:t>
            </a:r>
          </a:p>
        </p:txBody>
      </p:sp>
      <p:sp>
        <p:nvSpPr>
          <p:cNvPr id="6" name="SVG text 1"/>
          <p:cNvSpPr txBox="1"/>
          <p:nvPr/>
        </p:nvSpPr>
        <p:spPr>
          <a:xfrm>
            <a:off x="9755063" y="499872"/>
            <a:ext cx="1717609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A6B85"/>
                </a:solidFill>
                <a:latin typeface="Microsoft YaHei"/>
              </a:rPr>
              <a:t>PROJECT INTRO · 01</a:t>
            </a:r>
          </a:p>
        </p:txBody>
      </p:sp>
      <p:sp>
        <p:nvSpPr>
          <p:cNvPr id="7" name="SVG circle"/>
          <p:cNvSpPr/>
          <p:nvPr/>
        </p:nvSpPr>
        <p:spPr>
          <a:xfrm>
            <a:off x="1078230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VG circle"/>
          <p:cNvSpPr/>
          <p:nvPr/>
        </p:nvSpPr>
        <p:spPr>
          <a:xfrm>
            <a:off x="1096518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VG circle"/>
          <p:cNvSpPr/>
          <p:nvPr/>
        </p:nvSpPr>
        <p:spPr>
          <a:xfrm>
            <a:off x="1114806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VG circle"/>
          <p:cNvSpPr/>
          <p:nvPr/>
        </p:nvSpPr>
        <p:spPr>
          <a:xfrm>
            <a:off x="1133094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VG circle"/>
          <p:cNvSpPr/>
          <p:nvPr/>
        </p:nvSpPr>
        <p:spPr>
          <a:xfrm>
            <a:off x="1078230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VG circle"/>
          <p:cNvSpPr/>
          <p:nvPr/>
        </p:nvSpPr>
        <p:spPr>
          <a:xfrm>
            <a:off x="1096518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circle"/>
          <p:cNvSpPr/>
          <p:nvPr/>
        </p:nvSpPr>
        <p:spPr>
          <a:xfrm>
            <a:off x="1114806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circle"/>
          <p:cNvSpPr/>
          <p:nvPr/>
        </p:nvSpPr>
        <p:spPr>
          <a:xfrm>
            <a:off x="1133094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text 1"/>
          <p:cNvSpPr txBox="1"/>
          <p:nvPr/>
        </p:nvSpPr>
        <p:spPr>
          <a:xfrm>
            <a:off x="731520" y="1374648"/>
            <a:ext cx="4911425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 dirty="0" err="1">
                <a:solidFill>
                  <a:srgbClr val="0A1B3E"/>
                </a:solidFill>
                <a:latin typeface="Microsoft YaHei"/>
              </a:rPr>
              <a:t>VectorDeckPPT</a:t>
            </a:r>
            <a:endParaRPr sz="4800" b="1" i="0" dirty="0">
              <a:solidFill>
                <a:srgbClr val="0A1B3E"/>
              </a:solidFill>
              <a:latin typeface="Microsoft YaHei"/>
            </a:endParaRPr>
          </a:p>
        </p:txBody>
      </p:sp>
      <p:sp>
        <p:nvSpPr>
          <p:cNvPr id="16" name="SVG text 1"/>
          <p:cNvSpPr txBox="1"/>
          <p:nvPr/>
        </p:nvSpPr>
        <p:spPr>
          <a:xfrm>
            <a:off x="762000" y="2124761"/>
            <a:ext cx="4546324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 dirty="0">
                <a:solidFill>
                  <a:srgbClr val="173A73"/>
                </a:solidFill>
                <a:latin typeface="Microsoft YaHei"/>
              </a:rPr>
              <a:t>让 AI </a:t>
            </a:r>
            <a:r>
              <a:rPr sz="2279" b="1" i="0" dirty="0" err="1">
                <a:solidFill>
                  <a:srgbClr val="173A73"/>
                </a:solidFill>
                <a:latin typeface="Microsoft YaHei"/>
              </a:rPr>
              <a:t>负责设计，让代码保证交付</a:t>
            </a:r>
            <a:endParaRPr sz="2279" b="1" i="0" dirty="0">
              <a:solidFill>
                <a:srgbClr val="173A73"/>
              </a:solidFill>
              <a:latin typeface="Microsoft YaHei"/>
            </a:endParaRPr>
          </a:p>
        </p:txBody>
      </p:sp>
      <p:sp>
        <p:nvSpPr>
          <p:cNvPr id="17" name="SVG text 1"/>
          <p:cNvSpPr txBox="1"/>
          <p:nvPr/>
        </p:nvSpPr>
        <p:spPr>
          <a:xfrm>
            <a:off x="762000" y="2544775"/>
            <a:ext cx="468218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64748B"/>
                </a:solidFill>
                <a:latin typeface="Microsoft YaHei"/>
              </a:rPr>
              <a:t>面向 Agent 的向量优先、可编辑、可验证 PowerPoint 工作流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3078480"/>
            <a:ext cx="5242560" cy="701040"/>
          </a:xfrm>
          <a:prstGeom prst="roundRect">
            <a:avLst>
              <a:gd name="adj" fmla="val 19565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3017520"/>
            <a:ext cx="5242560" cy="701040"/>
          </a:xfrm>
          <a:prstGeom prst="roundRect">
            <a:avLst>
              <a:gd name="adj" fmla="val 19565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5059680" y="3017520"/>
            <a:ext cx="914400" cy="701040"/>
          </a:xfrm>
          <a:prstGeom prst="roundRect">
            <a:avLst>
              <a:gd name="adj" fmla="val 19565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circle"/>
          <p:cNvSpPr/>
          <p:nvPr/>
        </p:nvSpPr>
        <p:spPr>
          <a:xfrm>
            <a:off x="944880" y="3169920"/>
            <a:ext cx="396240" cy="39624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text 1"/>
          <p:cNvSpPr txBox="1"/>
          <p:nvPr/>
        </p:nvSpPr>
        <p:spPr>
          <a:xfrm>
            <a:off x="1079285" y="3294278"/>
            <a:ext cx="142061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478280" y="3145993"/>
            <a:ext cx="2507065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AI Agent × SVG × PPTX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478280" y="3441192"/>
            <a:ext cx="351739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AFF"/>
                </a:solidFill>
                <a:latin typeface="Microsoft YaHei"/>
              </a:rPr>
              <a:t>创意判断与确定性执行，在同一条可审查链路上协作</a:t>
            </a:r>
          </a:p>
        </p:txBody>
      </p:sp>
      <p:sp>
        <p:nvSpPr>
          <p:cNvPr id="25" name="SVG rect"/>
          <p:cNvSpPr/>
          <p:nvPr/>
        </p:nvSpPr>
        <p:spPr>
          <a:xfrm>
            <a:off x="7924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rect"/>
          <p:cNvSpPr/>
          <p:nvPr/>
        </p:nvSpPr>
        <p:spPr>
          <a:xfrm>
            <a:off x="7315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circle"/>
          <p:cNvSpPr/>
          <p:nvPr/>
        </p:nvSpPr>
        <p:spPr>
          <a:xfrm>
            <a:off x="899160" y="4267200"/>
            <a:ext cx="365760" cy="36576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text 1"/>
          <p:cNvSpPr txBox="1"/>
          <p:nvPr/>
        </p:nvSpPr>
        <p:spPr>
          <a:xfrm>
            <a:off x="980920" y="4381195"/>
            <a:ext cx="21565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01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853440" y="4738573"/>
            <a:ext cx="658368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高质量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853440" y="5066386"/>
            <a:ext cx="122895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4748B"/>
                </a:solidFill>
                <a:latin typeface="Microsoft YaHei"/>
              </a:rPr>
              <a:t>叙事、层级与视觉复审</a:t>
            </a:r>
          </a:p>
        </p:txBody>
      </p:sp>
      <p:sp>
        <p:nvSpPr>
          <p:cNvPr id="31" name="SVG rect"/>
          <p:cNvSpPr/>
          <p:nvPr/>
        </p:nvSpPr>
        <p:spPr>
          <a:xfrm>
            <a:off x="26212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rect"/>
          <p:cNvSpPr/>
          <p:nvPr/>
        </p:nvSpPr>
        <p:spPr>
          <a:xfrm>
            <a:off x="25603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circle"/>
          <p:cNvSpPr/>
          <p:nvPr/>
        </p:nvSpPr>
        <p:spPr>
          <a:xfrm>
            <a:off x="2727960" y="4267200"/>
            <a:ext cx="365760" cy="36576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VG text 1"/>
          <p:cNvSpPr txBox="1"/>
          <p:nvPr/>
        </p:nvSpPr>
        <p:spPr>
          <a:xfrm>
            <a:off x="2809720" y="4381195"/>
            <a:ext cx="21565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AABD"/>
                </a:solidFill>
                <a:latin typeface="Microsoft YaHei"/>
              </a:rPr>
              <a:t>02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2682240" y="4738573"/>
            <a:ext cx="658368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可编辑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2682240" y="5066386"/>
            <a:ext cx="110703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4748B"/>
                </a:solidFill>
                <a:latin typeface="Microsoft YaHei"/>
              </a:rPr>
              <a:t>文字与图形保持原生</a:t>
            </a:r>
          </a:p>
        </p:txBody>
      </p:sp>
      <p:sp>
        <p:nvSpPr>
          <p:cNvPr id="37" name="SVG rect"/>
          <p:cNvSpPr/>
          <p:nvPr/>
        </p:nvSpPr>
        <p:spPr>
          <a:xfrm>
            <a:off x="44500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rect"/>
          <p:cNvSpPr/>
          <p:nvPr/>
        </p:nvSpPr>
        <p:spPr>
          <a:xfrm>
            <a:off x="43891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SVG circle"/>
          <p:cNvSpPr/>
          <p:nvPr/>
        </p:nvSpPr>
        <p:spPr>
          <a:xfrm>
            <a:off x="4556760" y="4267200"/>
            <a:ext cx="365760" cy="36576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SVG text 1"/>
          <p:cNvSpPr txBox="1"/>
          <p:nvPr/>
        </p:nvSpPr>
        <p:spPr>
          <a:xfrm>
            <a:off x="4638520" y="4381195"/>
            <a:ext cx="21565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DAA57"/>
                </a:solidFill>
                <a:latin typeface="Microsoft YaHei"/>
              </a:rPr>
              <a:t>03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4511040" y="4738573"/>
            <a:ext cx="658368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可验证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4511040" y="5066386"/>
            <a:ext cx="110703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4748B"/>
                </a:solidFill>
                <a:latin typeface="Microsoft YaHei"/>
              </a:rPr>
              <a:t>每一步有产物与报告</a:t>
            </a:r>
          </a:p>
        </p:txBody>
      </p:sp>
      <p:sp>
        <p:nvSpPr>
          <p:cNvPr id="43" name="SVG rect"/>
          <p:cNvSpPr/>
          <p:nvPr/>
        </p:nvSpPr>
        <p:spPr>
          <a:xfrm>
            <a:off x="7269480" y="1432560"/>
            <a:ext cx="4008120" cy="3611880"/>
          </a:xfrm>
          <a:prstGeom prst="roundRect">
            <a:avLst>
              <a:gd name="adj" fmla="val 4641"/>
            </a:avLst>
          </a:prstGeom>
          <a:solidFill>
            <a:srgbClr val="E2ED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SVG rect"/>
          <p:cNvSpPr/>
          <p:nvPr/>
        </p:nvSpPr>
        <p:spPr>
          <a:xfrm>
            <a:off x="7117080" y="1280160"/>
            <a:ext cx="4008120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7117080" y="1280160"/>
            <a:ext cx="4008120" cy="487680"/>
          </a:xfrm>
          <a:prstGeom prst="roundRect">
            <a:avLst>
              <a:gd name="adj" fmla="val 34375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rect"/>
          <p:cNvSpPr/>
          <p:nvPr/>
        </p:nvSpPr>
        <p:spPr>
          <a:xfrm>
            <a:off x="7117080" y="1600200"/>
            <a:ext cx="4008120" cy="16764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text 1"/>
          <p:cNvSpPr txBox="1"/>
          <p:nvPr/>
        </p:nvSpPr>
        <p:spPr>
          <a:xfrm>
            <a:off x="7391400" y="1459992"/>
            <a:ext cx="1552773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VECTOR WORKFLOW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10151669" y="1478737"/>
            <a:ext cx="694334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AFCBFA"/>
                </a:solidFill>
                <a:latin typeface="Microsoft YaHei"/>
              </a:rPr>
              <a:t>1600 × 900</a:t>
            </a:r>
          </a:p>
        </p:txBody>
      </p:sp>
      <p:cxnSp>
        <p:nvCxnSpPr>
          <p:cNvPr id="49" name="SVG line"/>
          <p:cNvCxnSpPr/>
          <p:nvPr/>
        </p:nvCxnSpPr>
        <p:spPr>
          <a:xfrm>
            <a:off x="7620000" y="2682240"/>
            <a:ext cx="3002280" cy="0"/>
          </a:xfrm>
          <a:prstGeom prst="line">
            <a:avLst/>
          </a:prstGeom>
          <a:ln w="45720">
            <a:solidFill>
              <a:srgbClr val="BFD6FF"/>
            </a:solidFill>
          </a:ln>
        </p:spPr>
      </p:cxnSp>
      <p:sp>
        <p:nvSpPr>
          <p:cNvPr id="50" name="SVG circle"/>
          <p:cNvSpPr/>
          <p:nvPr/>
        </p:nvSpPr>
        <p:spPr>
          <a:xfrm>
            <a:off x="7360920" y="2423160"/>
            <a:ext cx="518160" cy="51816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circle"/>
          <p:cNvSpPr/>
          <p:nvPr/>
        </p:nvSpPr>
        <p:spPr>
          <a:xfrm>
            <a:off x="8107680" y="2423160"/>
            <a:ext cx="518160" cy="5181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circle"/>
          <p:cNvSpPr/>
          <p:nvPr/>
        </p:nvSpPr>
        <p:spPr>
          <a:xfrm>
            <a:off x="8862060" y="2423160"/>
            <a:ext cx="518160" cy="51816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circle"/>
          <p:cNvSpPr/>
          <p:nvPr/>
        </p:nvSpPr>
        <p:spPr>
          <a:xfrm>
            <a:off x="9616440" y="2423160"/>
            <a:ext cx="518160" cy="5181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circle"/>
          <p:cNvSpPr/>
          <p:nvPr/>
        </p:nvSpPr>
        <p:spPr>
          <a:xfrm>
            <a:off x="10363200" y="2423160"/>
            <a:ext cx="518160" cy="51816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text 1"/>
          <p:cNvSpPr txBox="1"/>
          <p:nvPr/>
        </p:nvSpPr>
        <p:spPr>
          <a:xfrm>
            <a:off x="754075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读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828751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904189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画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979627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DAA57"/>
                </a:solidFill>
                <a:latin typeface="Microsoft YaHei"/>
              </a:rPr>
              <a:t>审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10543032" y="262585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交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7490460" y="3094177"/>
            <a:ext cx="26944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资料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237220" y="3094177"/>
            <a:ext cx="26944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叙事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8990952" y="3094177"/>
            <a:ext cx="270739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SVG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9745980" y="3094177"/>
            <a:ext cx="26944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复审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10448696" y="3094177"/>
            <a:ext cx="357530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PPTX</a:t>
            </a:r>
          </a:p>
        </p:txBody>
      </p:sp>
      <p:sp>
        <p:nvSpPr>
          <p:cNvPr id="65" name="SVG rect"/>
          <p:cNvSpPr/>
          <p:nvPr/>
        </p:nvSpPr>
        <p:spPr>
          <a:xfrm>
            <a:off x="7498080" y="3611880"/>
            <a:ext cx="3246120" cy="762000"/>
          </a:xfrm>
          <a:prstGeom prst="roundRect">
            <a:avLst>
              <a:gd name="adj" fmla="val 14000"/>
            </a:avLst>
          </a:prstGeom>
          <a:solidFill>
            <a:srgbClr val="F4F8FF"/>
          </a:solidFill>
          <a:ln w="15240">
            <a:solidFill>
              <a:srgbClr val="D7E5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circle"/>
          <p:cNvSpPr/>
          <p:nvPr/>
        </p:nvSpPr>
        <p:spPr>
          <a:xfrm>
            <a:off x="7650480" y="3794760"/>
            <a:ext cx="396240" cy="396240"/>
          </a:xfrm>
          <a:prstGeom prst="ellipse">
            <a:avLst/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SVG text 1"/>
          <p:cNvSpPr txBox="1"/>
          <p:nvPr/>
        </p:nvSpPr>
        <p:spPr>
          <a:xfrm>
            <a:off x="7799387" y="3917747"/>
            <a:ext cx="112447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68" name="SVG text 1"/>
          <p:cNvSpPr txBox="1"/>
          <p:nvPr/>
        </p:nvSpPr>
        <p:spPr>
          <a:xfrm>
            <a:off x="8183880" y="3757727"/>
            <a:ext cx="1836725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A1B3E"/>
                </a:solidFill>
                <a:latin typeface="Microsoft YaHei"/>
              </a:rPr>
              <a:t>最终交付不是一张截图</a:t>
            </a:r>
          </a:p>
        </p:txBody>
      </p:sp>
      <p:sp>
        <p:nvSpPr>
          <p:cNvPr id="69" name="SVG text 1"/>
          <p:cNvSpPr txBox="1"/>
          <p:nvPr/>
        </p:nvSpPr>
        <p:spPr>
          <a:xfrm>
            <a:off x="8183880" y="4063289"/>
            <a:ext cx="220553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而是一套可继续维护的演示文稿资产</a:t>
            </a:r>
          </a:p>
        </p:txBody>
      </p:sp>
      <p:sp>
        <p:nvSpPr>
          <p:cNvPr id="70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SVG text 1"/>
          <p:cNvSpPr txBox="1"/>
          <p:nvPr/>
        </p:nvSpPr>
        <p:spPr>
          <a:xfrm>
            <a:off x="1050207" y="608807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432560" y="6069330"/>
            <a:ext cx="25908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A73"/>
                </a:solidFill>
                <a:latin typeface="Microsoft YaHei"/>
              </a:rPr>
              <a:t>让创意可见，让交付可验证。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284104" y="6113069"/>
            <a:ext cx="82158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V1.1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 dirty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358140"/>
            <a:ext cx="4924425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0A1B3E"/>
                </a:solidFill>
                <a:latin typeface="Microsoft YaHei"/>
              </a:rPr>
              <a:t>高质量生成，不该在三件事之间妥协</a:t>
            </a:r>
            <a:endParaRPr sz="2400" b="1" i="0" dirty="0">
              <a:solidFill>
                <a:srgbClr val="0A1B3E"/>
              </a:solidFill>
              <a:latin typeface="Microsoft YaHei"/>
            </a:endParaRP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374935" y="533857"/>
            <a:ext cx="1095908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PROJECT INTRO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160618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速度只有在审美、编辑能力和质量判断都保住时才有价值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circle"/>
          <p:cNvSpPr/>
          <p:nvPr/>
        </p:nvSpPr>
        <p:spPr>
          <a:xfrm>
            <a:off x="899160" y="2560320"/>
            <a:ext cx="640080" cy="64008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circle"/>
          <p:cNvSpPr/>
          <p:nvPr/>
        </p:nvSpPr>
        <p:spPr>
          <a:xfrm>
            <a:off x="822960" y="2484120"/>
            <a:ext cx="792480" cy="79248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text 1"/>
          <p:cNvSpPr txBox="1"/>
          <p:nvPr/>
        </p:nvSpPr>
        <p:spPr>
          <a:xfrm>
            <a:off x="1090501" y="2804465"/>
            <a:ext cx="27446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706880" y="2719121"/>
            <a:ext cx="625450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0A1B3E"/>
                </a:solidFill>
                <a:latin typeface="Microsoft YaHei"/>
              </a:rPr>
              <a:t>好看</a:t>
            </a:r>
          </a:p>
        </p:txBody>
      </p:sp>
      <p:cxnSp>
        <p:nvCxnSpPr>
          <p:cNvPr id="24" name="SVG line"/>
          <p:cNvCxnSpPr/>
          <p:nvPr/>
        </p:nvCxnSpPr>
        <p:spPr>
          <a:xfrm>
            <a:off x="975360" y="3383280"/>
            <a:ext cx="274320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sp>
        <p:nvSpPr>
          <p:cNvPr id="25" name="SVG circle"/>
          <p:cNvSpPr/>
          <p:nvPr/>
        </p:nvSpPr>
        <p:spPr>
          <a:xfrm>
            <a:off x="1005840" y="3627120"/>
            <a:ext cx="426720" cy="42672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text 1"/>
          <p:cNvSpPr txBox="1"/>
          <p:nvPr/>
        </p:nvSpPr>
        <p:spPr>
          <a:xfrm>
            <a:off x="1160794" y="3771595"/>
            <a:ext cx="130223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A</a:t>
            </a:r>
          </a:p>
        </p:txBody>
      </p:sp>
      <p:sp>
        <p:nvSpPr>
          <p:cNvPr id="27" name="SVG text 1"/>
          <p:cNvSpPr txBox="1"/>
          <p:nvPr/>
        </p:nvSpPr>
        <p:spPr>
          <a:xfrm>
            <a:off x="1569720" y="3660038"/>
            <a:ext cx="1345997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有叙事、有层级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1569720" y="3957980"/>
            <a:ext cx="160416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64748B"/>
                </a:solidFill>
                <a:latin typeface="Microsoft YaHei"/>
              </a:rPr>
              <a:t>每页先表达一个清晰结论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975360" y="4486504"/>
            <a:ext cx="209306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不是模板拼装，也不是把文档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975360" y="4730344"/>
            <a:ext cx="129296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逐段搬进幻灯片。</a:t>
            </a:r>
          </a:p>
        </p:txBody>
      </p:sp>
      <p:sp>
        <p:nvSpPr>
          <p:cNvPr id="31" name="SVG rect"/>
          <p:cNvSpPr/>
          <p:nvPr/>
        </p:nvSpPr>
        <p:spPr>
          <a:xfrm>
            <a:off x="454152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rect"/>
          <p:cNvSpPr/>
          <p:nvPr/>
        </p:nvSpPr>
        <p:spPr>
          <a:xfrm>
            <a:off x="448056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circle"/>
          <p:cNvSpPr/>
          <p:nvPr/>
        </p:nvSpPr>
        <p:spPr>
          <a:xfrm>
            <a:off x="4648200" y="2560320"/>
            <a:ext cx="640080" cy="64008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VG circle"/>
          <p:cNvSpPr/>
          <p:nvPr/>
        </p:nvSpPr>
        <p:spPr>
          <a:xfrm>
            <a:off x="4572000" y="2484120"/>
            <a:ext cx="792480" cy="792480"/>
          </a:xfrm>
          <a:prstGeom prst="ellipse">
            <a:avLst/>
          </a:prstGeom>
          <a:noFill/>
          <a:ln w="2286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VG text 1"/>
          <p:cNvSpPr txBox="1"/>
          <p:nvPr/>
        </p:nvSpPr>
        <p:spPr>
          <a:xfrm>
            <a:off x="4839541" y="2804465"/>
            <a:ext cx="27446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5455920" y="2719121"/>
            <a:ext cx="926592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0A1B3E"/>
                </a:solidFill>
                <a:latin typeface="Microsoft YaHei"/>
              </a:rPr>
              <a:t>可编辑</a:t>
            </a:r>
          </a:p>
        </p:txBody>
      </p:sp>
      <p:cxnSp>
        <p:nvCxnSpPr>
          <p:cNvPr id="37" name="SVG line"/>
          <p:cNvCxnSpPr/>
          <p:nvPr/>
        </p:nvCxnSpPr>
        <p:spPr>
          <a:xfrm>
            <a:off x="4724400" y="3383280"/>
            <a:ext cx="2743200" cy="0"/>
          </a:xfrm>
          <a:prstGeom prst="line">
            <a:avLst/>
          </a:prstGeom>
          <a:ln w="38100">
            <a:solidFill>
              <a:srgbClr val="12AABD"/>
            </a:solidFill>
          </a:ln>
        </p:spPr>
      </p:cxnSp>
      <p:sp>
        <p:nvSpPr>
          <p:cNvPr id="38" name="SVG circle"/>
          <p:cNvSpPr/>
          <p:nvPr/>
        </p:nvSpPr>
        <p:spPr>
          <a:xfrm>
            <a:off x="4754880" y="3627120"/>
            <a:ext cx="426720" cy="42672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SVG text 1"/>
          <p:cNvSpPr txBox="1"/>
          <p:nvPr/>
        </p:nvSpPr>
        <p:spPr>
          <a:xfrm>
            <a:off x="4909834" y="3771595"/>
            <a:ext cx="130223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AABD"/>
                </a:solidFill>
                <a:latin typeface="Microsoft YaHei"/>
              </a:rPr>
              <a:t>T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5318760" y="3660038"/>
            <a:ext cx="1726387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文字与图形保持原生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5318760" y="3957980"/>
            <a:ext cx="17489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64748B"/>
                </a:solidFill>
                <a:latin typeface="Microsoft YaHei"/>
              </a:rPr>
              <a:t>后续仍可搜索、复制和修改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4724400" y="4486504"/>
            <a:ext cx="225308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复杂视觉可以保真降级，但所有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4724400" y="4730344"/>
            <a:ext cx="17730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权衡必须进入编译报告。</a:t>
            </a:r>
          </a:p>
        </p:txBody>
      </p:sp>
      <p:sp>
        <p:nvSpPr>
          <p:cNvPr id="44" name="SVG rect"/>
          <p:cNvSpPr/>
          <p:nvPr/>
        </p:nvSpPr>
        <p:spPr>
          <a:xfrm>
            <a:off x="829056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822960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circle"/>
          <p:cNvSpPr/>
          <p:nvPr/>
        </p:nvSpPr>
        <p:spPr>
          <a:xfrm>
            <a:off x="8397240" y="2560320"/>
            <a:ext cx="640080" cy="6400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circle"/>
          <p:cNvSpPr/>
          <p:nvPr/>
        </p:nvSpPr>
        <p:spPr>
          <a:xfrm>
            <a:off x="8321040" y="2484120"/>
            <a:ext cx="792480" cy="792480"/>
          </a:xfrm>
          <a:prstGeom prst="ellipse">
            <a:avLst/>
          </a:prstGeom>
          <a:noFill/>
          <a:ln w="2286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SVG text 1"/>
          <p:cNvSpPr txBox="1"/>
          <p:nvPr/>
        </p:nvSpPr>
        <p:spPr>
          <a:xfrm>
            <a:off x="8588581" y="2804465"/>
            <a:ext cx="27446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9" name="SVG text 1"/>
          <p:cNvSpPr txBox="1"/>
          <p:nvPr/>
        </p:nvSpPr>
        <p:spPr>
          <a:xfrm>
            <a:off x="9204960" y="2719121"/>
            <a:ext cx="926592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0A1B3E"/>
                </a:solidFill>
                <a:latin typeface="Microsoft YaHei"/>
              </a:rPr>
              <a:t>可验证</a:t>
            </a:r>
          </a:p>
        </p:txBody>
      </p:sp>
      <p:cxnSp>
        <p:nvCxnSpPr>
          <p:cNvPr id="50" name="SVG line"/>
          <p:cNvCxnSpPr/>
          <p:nvPr/>
        </p:nvCxnSpPr>
        <p:spPr>
          <a:xfrm>
            <a:off x="8473440" y="3383280"/>
            <a:ext cx="2743200" cy="0"/>
          </a:xfrm>
          <a:prstGeom prst="line">
            <a:avLst/>
          </a:prstGeom>
          <a:ln w="38100">
            <a:solidFill>
              <a:srgbClr val="2DAA57"/>
            </a:solidFill>
          </a:ln>
        </p:spPr>
      </p:cxnSp>
      <p:sp>
        <p:nvSpPr>
          <p:cNvPr id="51" name="SVG circle"/>
          <p:cNvSpPr/>
          <p:nvPr/>
        </p:nvSpPr>
        <p:spPr>
          <a:xfrm>
            <a:off x="8503920" y="3627120"/>
            <a:ext cx="426720" cy="4267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text 1"/>
          <p:cNvSpPr txBox="1"/>
          <p:nvPr/>
        </p:nvSpPr>
        <p:spPr>
          <a:xfrm>
            <a:off x="8670207" y="377159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3" name="SVG text 1"/>
          <p:cNvSpPr txBox="1"/>
          <p:nvPr/>
        </p:nvSpPr>
        <p:spPr>
          <a:xfrm>
            <a:off x="9067800" y="3660038"/>
            <a:ext cx="1536192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每一步都有检查点</a:t>
            </a:r>
          </a:p>
        </p:txBody>
      </p:sp>
      <p:sp>
        <p:nvSpPr>
          <p:cNvPr id="54" name="SVG text 1"/>
          <p:cNvSpPr txBox="1"/>
          <p:nvPr/>
        </p:nvSpPr>
        <p:spPr>
          <a:xfrm>
            <a:off x="9067800" y="3957980"/>
            <a:ext cx="17489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64748B"/>
                </a:solidFill>
                <a:latin typeface="Microsoft YaHei"/>
              </a:rPr>
              <a:t>校验、渲染、复审、再编译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8473440" y="4486504"/>
            <a:ext cx="2526716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SVG 与 PPTX 都需要看实际结果，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8473440" y="4730344"/>
            <a:ext cx="1785823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不是“能打开”就算成功。</a:t>
            </a:r>
          </a:p>
        </p:txBody>
      </p:sp>
      <p:sp>
        <p:nvSpPr>
          <p:cNvPr id="57" name="SVG rect"/>
          <p:cNvSpPr/>
          <p:nvPr/>
        </p:nvSpPr>
        <p:spPr>
          <a:xfrm>
            <a:off x="792480" y="5745480"/>
            <a:ext cx="10668000" cy="685800"/>
          </a:xfrm>
          <a:prstGeom prst="roundRect">
            <a:avLst>
              <a:gd name="adj" fmla="val 22222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SVG rect"/>
          <p:cNvSpPr/>
          <p:nvPr/>
        </p:nvSpPr>
        <p:spPr>
          <a:xfrm>
            <a:off x="731520" y="5684520"/>
            <a:ext cx="10668000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circle"/>
          <p:cNvSpPr/>
          <p:nvPr/>
        </p:nvSpPr>
        <p:spPr>
          <a:xfrm>
            <a:off x="914400" y="581406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SVG text 1"/>
          <p:cNvSpPr txBox="1"/>
          <p:nvPr/>
        </p:nvSpPr>
        <p:spPr>
          <a:xfrm>
            <a:off x="1069354" y="5958535"/>
            <a:ext cx="130223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1508760" y="5851855"/>
            <a:ext cx="227990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64748B"/>
                </a:solidFill>
                <a:latin typeface="Microsoft YaHei"/>
              </a:rPr>
              <a:t>传统自动化：只优化产出速度</a:t>
            </a:r>
          </a:p>
        </p:txBody>
      </p:sp>
      <p:cxnSp>
        <p:nvCxnSpPr>
          <p:cNvPr id="62" name="SVG line"/>
          <p:cNvCxnSpPr/>
          <p:nvPr/>
        </p:nvCxnSpPr>
        <p:spPr>
          <a:xfrm>
            <a:off x="4648200" y="5867400"/>
            <a:ext cx="0" cy="33528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63" name="SVG text 1"/>
          <p:cNvSpPr txBox="1"/>
          <p:nvPr/>
        </p:nvSpPr>
        <p:spPr>
          <a:xfrm>
            <a:off x="4998720" y="5833110"/>
            <a:ext cx="311978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VectorDeckPPT：让三者同时成立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4998720" y="6120689"/>
            <a:ext cx="33028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一条可审查的向量工作流，把创意与工程质量连接起来</a:t>
            </a:r>
          </a:p>
        </p:txBody>
      </p:sp>
      <p:sp>
        <p:nvSpPr>
          <p:cNvPr id="65" name="SVG text 1"/>
          <p:cNvSpPr txBox="1"/>
          <p:nvPr/>
        </p:nvSpPr>
        <p:spPr>
          <a:xfrm>
            <a:off x="10578694" y="605972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6690726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0A1B3E"/>
                </a:solidFill>
                <a:latin typeface="Microsoft YaHei"/>
              </a:rPr>
              <a:t>这不是另一个</a:t>
            </a:r>
            <a:r>
              <a:rPr sz="2400" b="1" i="0" dirty="0">
                <a:solidFill>
                  <a:srgbClr val="0A1B3E"/>
                </a:solidFill>
                <a:latin typeface="Microsoft YaHei"/>
              </a:rPr>
              <a:t> AI </a:t>
            </a:r>
            <a:r>
              <a:rPr sz="2400" b="1" i="0" dirty="0" err="1">
                <a:solidFill>
                  <a:srgbClr val="0A1B3E"/>
                </a:solidFill>
                <a:latin typeface="Microsoft YaHei"/>
              </a:rPr>
              <a:t>API，而是一套分层协作机制</a:t>
            </a:r>
            <a:endParaRPr sz="2400" b="1" i="0" dirty="0">
              <a:solidFill>
                <a:srgbClr val="0A1B3E"/>
              </a:solidFill>
              <a:latin typeface="Microsoft YaHei"/>
            </a:endParaRP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418978" y="533857"/>
            <a:ext cx="1051865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ARCHITECTURE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↕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288365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Agent 做创造性判断，脚本做确定性执行，SVG 连接两层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10668000" cy="1600200"/>
          </a:xfrm>
          <a:prstGeom prst="roundRect">
            <a:avLst>
              <a:gd name="adj" fmla="val 10476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10668000" cy="1600200"/>
          </a:xfrm>
          <a:prstGeom prst="roundRect">
            <a:avLst>
              <a:gd name="adj" fmla="val 10476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1783080" cy="1600200"/>
          </a:xfrm>
          <a:prstGeom prst="roundRect">
            <a:avLst>
              <a:gd name="adj" fmla="val 1047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text 1"/>
          <p:cNvSpPr txBox="1"/>
          <p:nvPr/>
        </p:nvSpPr>
        <p:spPr>
          <a:xfrm>
            <a:off x="1005840" y="2654960"/>
            <a:ext cx="970721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DCEAFF"/>
                </a:solidFill>
                <a:latin typeface="Microsoft YaHei"/>
              </a:rPr>
              <a:t>HOST AGENT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1005840" y="2985973"/>
            <a:ext cx="108630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创造性判断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005840" y="3331769"/>
            <a:ext cx="97109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DCEAFF"/>
                </a:solidFill>
                <a:latin typeface="Microsoft YaHei"/>
              </a:rPr>
              <a:t>理解资料与受众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005840" y="3560369"/>
            <a:ext cx="11082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DCEAFF"/>
                </a:solidFill>
                <a:latin typeface="Microsoft YaHei"/>
              </a:rPr>
              <a:t>做内容和视觉决策</a:t>
            </a:r>
          </a:p>
        </p:txBody>
      </p:sp>
      <p:sp>
        <p:nvSpPr>
          <p:cNvPr id="25" name="SVG rect"/>
          <p:cNvSpPr/>
          <p:nvPr/>
        </p:nvSpPr>
        <p:spPr>
          <a:xfrm>
            <a:off x="27584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circle"/>
          <p:cNvSpPr/>
          <p:nvPr/>
        </p:nvSpPr>
        <p:spPr>
          <a:xfrm>
            <a:off x="2933700" y="2750820"/>
            <a:ext cx="381000" cy="381000"/>
          </a:xfrm>
          <a:prstGeom prst="ellipse">
            <a:avLst/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text 1"/>
          <p:cNvSpPr txBox="1"/>
          <p:nvPr/>
        </p:nvSpPr>
        <p:spPr>
          <a:xfrm>
            <a:off x="3040990" y="2878684"/>
            <a:ext cx="1792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读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3429000" y="2809342"/>
            <a:ext cx="1046074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理解与提炼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3002280" y="3225089"/>
            <a:ext cx="17940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提取事实、证据、受众与约束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3002280" y="3453689"/>
            <a:ext cx="165689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把资料转成演示文稿问题链</a:t>
            </a:r>
          </a:p>
        </p:txBody>
      </p:sp>
      <p:sp>
        <p:nvSpPr>
          <p:cNvPr id="31" name="SVG rect"/>
          <p:cNvSpPr/>
          <p:nvPr/>
        </p:nvSpPr>
        <p:spPr>
          <a:xfrm>
            <a:off x="55778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circle"/>
          <p:cNvSpPr/>
          <p:nvPr/>
        </p:nvSpPr>
        <p:spPr>
          <a:xfrm>
            <a:off x="5753100" y="2750820"/>
            <a:ext cx="381000" cy="38100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text 1"/>
          <p:cNvSpPr txBox="1"/>
          <p:nvPr/>
        </p:nvSpPr>
        <p:spPr>
          <a:xfrm>
            <a:off x="5860390" y="2878684"/>
            <a:ext cx="1792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策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6248400" y="2809342"/>
            <a:ext cx="1458163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叙事与艺术方向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5821680" y="3225089"/>
            <a:ext cx="19312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定义视觉命题、节奏和页面层级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5821680" y="3453689"/>
            <a:ext cx="17940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为每页选择最合适的视觉证明</a:t>
            </a:r>
          </a:p>
        </p:txBody>
      </p:sp>
      <p:sp>
        <p:nvSpPr>
          <p:cNvPr id="37" name="SVG rect"/>
          <p:cNvSpPr/>
          <p:nvPr/>
        </p:nvSpPr>
        <p:spPr>
          <a:xfrm>
            <a:off x="83972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circle"/>
          <p:cNvSpPr/>
          <p:nvPr/>
        </p:nvSpPr>
        <p:spPr>
          <a:xfrm>
            <a:off x="8572500" y="2750820"/>
            <a:ext cx="381000" cy="3810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SVG text 1"/>
          <p:cNvSpPr txBox="1"/>
          <p:nvPr/>
        </p:nvSpPr>
        <p:spPr>
          <a:xfrm>
            <a:off x="8679790" y="2878684"/>
            <a:ext cx="179222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审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9067800" y="2809342"/>
            <a:ext cx="1252118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8641080" y="3225089"/>
            <a:ext cx="207523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直接检查实际 PNG 与 PPTX 渲染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8641080" y="3453689"/>
            <a:ext cx="16143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发现问题后回到 SVG 修订</a:t>
            </a:r>
          </a:p>
        </p:txBody>
      </p:sp>
      <p:sp>
        <p:nvSpPr>
          <p:cNvPr id="43" name="SVG rect"/>
          <p:cNvSpPr/>
          <p:nvPr/>
        </p:nvSpPr>
        <p:spPr>
          <a:xfrm>
            <a:off x="792480" y="4312920"/>
            <a:ext cx="10668000" cy="1295400"/>
          </a:xfrm>
          <a:prstGeom prst="roundRect">
            <a:avLst>
              <a:gd name="adj" fmla="val 12941"/>
            </a:avLst>
          </a:prstGeom>
          <a:solidFill>
            <a:srgbClr val="E6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SVG rect"/>
          <p:cNvSpPr/>
          <p:nvPr/>
        </p:nvSpPr>
        <p:spPr>
          <a:xfrm>
            <a:off x="731520" y="4251960"/>
            <a:ext cx="10668000" cy="129540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731520" y="4251960"/>
            <a:ext cx="1783080" cy="1295400"/>
          </a:xfrm>
          <a:prstGeom prst="roundRect">
            <a:avLst>
              <a:gd name="adj" fmla="val 12941"/>
            </a:avLst>
          </a:prstGeom>
          <a:solidFill>
            <a:srgbClr val="EDF4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text 1"/>
          <p:cNvSpPr txBox="1"/>
          <p:nvPr/>
        </p:nvSpPr>
        <p:spPr>
          <a:xfrm>
            <a:off x="1005840" y="4529480"/>
            <a:ext cx="1878665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263E6"/>
                </a:solidFill>
                <a:latin typeface="Microsoft YaHei"/>
              </a:rPr>
              <a:t>DETERMINISTIC TOOLS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1005840" y="4826508"/>
            <a:ext cx="120700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B3E"/>
                </a:solidFill>
                <a:latin typeface="Microsoft YaHei"/>
              </a:rPr>
              <a:t>确定性执行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1005840" y="5191049"/>
            <a:ext cx="13825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结构化输入与稳定输出</a:t>
            </a:r>
          </a:p>
        </p:txBody>
      </p:sp>
      <p:cxnSp>
        <p:nvCxnSpPr>
          <p:cNvPr id="49" name="SVG line"/>
          <p:cNvCxnSpPr/>
          <p:nvPr/>
        </p:nvCxnSpPr>
        <p:spPr>
          <a:xfrm>
            <a:off x="2819400" y="4922520"/>
            <a:ext cx="7818120" cy="0"/>
          </a:xfrm>
          <a:prstGeom prst="line">
            <a:avLst/>
          </a:prstGeom>
          <a:ln w="38100">
            <a:solidFill>
              <a:srgbClr val="C9DCFC"/>
            </a:solidFill>
          </a:ln>
        </p:spPr>
      </p:cxnSp>
      <p:sp>
        <p:nvSpPr>
          <p:cNvPr id="50" name="SVG circle"/>
          <p:cNvSpPr/>
          <p:nvPr/>
        </p:nvSpPr>
        <p:spPr>
          <a:xfrm>
            <a:off x="2865120" y="4632960"/>
            <a:ext cx="579120" cy="5791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circle"/>
          <p:cNvSpPr/>
          <p:nvPr/>
        </p:nvSpPr>
        <p:spPr>
          <a:xfrm>
            <a:off x="4892040" y="4632960"/>
            <a:ext cx="579120" cy="57912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circle"/>
          <p:cNvSpPr/>
          <p:nvPr/>
        </p:nvSpPr>
        <p:spPr>
          <a:xfrm>
            <a:off x="6918960" y="4632960"/>
            <a:ext cx="579120" cy="5791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circle"/>
          <p:cNvSpPr/>
          <p:nvPr/>
        </p:nvSpPr>
        <p:spPr>
          <a:xfrm>
            <a:off x="8945880" y="4632960"/>
            <a:ext cx="579120" cy="57912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text 1"/>
          <p:cNvSpPr txBox="1"/>
          <p:nvPr/>
        </p:nvSpPr>
        <p:spPr>
          <a:xfrm>
            <a:off x="307543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校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510235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渲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712927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9156192" y="4866132"/>
            <a:ext cx="1706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DAA57"/>
                </a:solidFill>
                <a:latin typeface="Microsoft YaHei"/>
              </a:rPr>
              <a:t>验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2844424" y="5252009"/>
            <a:ext cx="631485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SVG 校验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4871344" y="5252009"/>
            <a:ext cx="631485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PNG 渲染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6850478" y="5252009"/>
            <a:ext cx="72705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PPTX 编译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878824" y="5252009"/>
            <a:ext cx="724205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包结构验证</a:t>
            </a:r>
          </a:p>
        </p:txBody>
      </p:sp>
      <p:sp>
        <p:nvSpPr>
          <p:cNvPr id="62" name="SVG rect"/>
          <p:cNvSpPr/>
          <p:nvPr/>
        </p:nvSpPr>
        <p:spPr>
          <a:xfrm>
            <a:off x="5699760" y="3916680"/>
            <a:ext cx="792480" cy="441960"/>
          </a:xfrm>
          <a:prstGeom prst="roundRect">
            <a:avLst>
              <a:gd name="adj" fmla="val 25862"/>
            </a:avLst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text 1"/>
          <p:cNvSpPr txBox="1"/>
          <p:nvPr/>
        </p:nvSpPr>
        <p:spPr>
          <a:xfrm>
            <a:off x="5904854" y="4056278"/>
            <a:ext cx="396923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SVG</a:t>
            </a:r>
          </a:p>
        </p:txBody>
      </p:sp>
      <p:sp>
        <p:nvSpPr>
          <p:cNvPr id="64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text 1"/>
          <p:cNvSpPr txBox="1"/>
          <p:nvPr/>
        </p:nvSpPr>
        <p:spPr>
          <a:xfrm>
            <a:off x="1052346" y="6094324"/>
            <a:ext cx="102669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67" name="SVG text 1"/>
          <p:cNvSpPr txBox="1"/>
          <p:nvPr/>
        </p:nvSpPr>
        <p:spPr>
          <a:xfrm>
            <a:off x="1432560" y="6067958"/>
            <a:ext cx="4421453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架构边界越清楚，Skill 越容易移植、测试和维护。</a:t>
            </a:r>
          </a:p>
        </p:txBody>
      </p:sp>
      <p:sp>
        <p:nvSpPr>
          <p:cNvPr id="68" name="SVG text 1"/>
          <p:cNvSpPr txBox="1"/>
          <p:nvPr/>
        </p:nvSpPr>
        <p:spPr>
          <a:xfrm>
            <a:off x="10578694" y="610544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08127"/>
            <a:ext cx="5518562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0A1B3E"/>
                </a:solidFill>
                <a:latin typeface="Microsoft YaHei"/>
              </a:rPr>
              <a:t>五个阶段，把资料稳定变成可编辑</a:t>
            </a:r>
            <a:r>
              <a:rPr sz="2400" b="1" i="0" dirty="0">
                <a:solidFill>
                  <a:srgbClr val="0A1B3E"/>
                </a:solidFill>
                <a:latin typeface="Microsoft YaHei"/>
              </a:rPr>
              <a:t> PPTX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766146" y="533857"/>
            <a:ext cx="704698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WORKFLOW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897624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每一阶段都有明确输入、产物和质量门，问题可以被定位和回退</a:t>
            </a:r>
          </a:p>
        </p:txBody>
      </p:sp>
      <p:cxnSp>
        <p:nvCxnSpPr>
          <p:cNvPr id="18" name="SVG line"/>
          <p:cNvCxnSpPr/>
          <p:nvPr/>
        </p:nvCxnSpPr>
        <p:spPr>
          <a:xfrm>
            <a:off x="1798320" y="3794760"/>
            <a:ext cx="8595360" cy="0"/>
          </a:xfrm>
          <a:prstGeom prst="line">
            <a:avLst/>
          </a:prstGeom>
          <a:ln w="68580">
            <a:solidFill>
              <a:srgbClr val="D7E5FF"/>
            </a:solidFill>
          </a:ln>
        </p:spPr>
      </p:cxnSp>
      <p:sp>
        <p:nvSpPr>
          <p:cNvPr id="19" name="SVG text 1"/>
          <p:cNvSpPr txBox="1"/>
          <p:nvPr/>
        </p:nvSpPr>
        <p:spPr>
          <a:xfrm>
            <a:off x="279477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63E6"/>
                </a:solidFill>
                <a:latin typeface="Microsoft YaHei"/>
              </a:rPr>
              <a:t>›</a:t>
            </a:r>
          </a:p>
        </p:txBody>
      </p:sp>
      <p:sp>
        <p:nvSpPr>
          <p:cNvPr id="20" name="SVG text 1"/>
          <p:cNvSpPr txBox="1"/>
          <p:nvPr/>
        </p:nvSpPr>
        <p:spPr>
          <a:xfrm>
            <a:off x="498933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AABD"/>
                </a:solidFill>
                <a:latin typeface="Microsoft YaHei"/>
              </a:rPr>
              <a:t>›</a:t>
            </a:r>
          </a:p>
        </p:txBody>
      </p:sp>
      <p:sp>
        <p:nvSpPr>
          <p:cNvPr id="21" name="SVG text 1"/>
          <p:cNvSpPr txBox="1"/>
          <p:nvPr/>
        </p:nvSpPr>
        <p:spPr>
          <a:xfrm>
            <a:off x="718389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DAA57"/>
                </a:solidFill>
                <a:latin typeface="Microsoft YaHei"/>
              </a:rPr>
              <a:t>›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9378452" y="3659124"/>
            <a:ext cx="19556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B21A"/>
                </a:solidFill>
                <a:latin typeface="Microsoft YaHei"/>
              </a:rPr>
              <a:t>›</a:t>
            </a:r>
          </a:p>
        </p:txBody>
      </p:sp>
      <p:sp>
        <p:nvSpPr>
          <p:cNvPr id="23" name="SVG rect"/>
          <p:cNvSpPr/>
          <p:nvPr/>
        </p:nvSpPr>
        <p:spPr>
          <a:xfrm>
            <a:off x="85344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VG rect"/>
          <p:cNvSpPr/>
          <p:nvPr/>
        </p:nvSpPr>
        <p:spPr>
          <a:xfrm>
            <a:off x="79248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circle"/>
          <p:cNvSpPr/>
          <p:nvPr/>
        </p:nvSpPr>
        <p:spPr>
          <a:xfrm>
            <a:off x="1371600" y="2331720"/>
            <a:ext cx="731520" cy="7315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circle"/>
          <p:cNvSpPr/>
          <p:nvPr/>
        </p:nvSpPr>
        <p:spPr>
          <a:xfrm>
            <a:off x="1280160" y="2240280"/>
            <a:ext cx="914400" cy="91440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text 1"/>
          <p:cNvSpPr txBox="1"/>
          <p:nvPr/>
        </p:nvSpPr>
        <p:spPr>
          <a:xfrm>
            <a:off x="159946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8" name="SVG circle"/>
          <p:cNvSpPr/>
          <p:nvPr/>
        </p:nvSpPr>
        <p:spPr>
          <a:xfrm>
            <a:off x="1386840" y="3230880"/>
            <a:ext cx="701040" cy="70104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text 1"/>
          <p:cNvSpPr txBox="1"/>
          <p:nvPr/>
        </p:nvSpPr>
        <p:spPr>
          <a:xfrm>
            <a:off x="163830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读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129357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263E6"/>
                </a:solidFill>
                <a:latin typeface="Microsoft YaHei"/>
              </a:rPr>
              <a:t>理解资料</a:t>
            </a:r>
          </a:p>
        </p:txBody>
      </p:sp>
      <p:cxnSp>
        <p:nvCxnSpPr>
          <p:cNvPr id="31" name="SVG line"/>
          <p:cNvCxnSpPr/>
          <p:nvPr/>
        </p:nvCxnSpPr>
        <p:spPr>
          <a:xfrm>
            <a:off x="1493520" y="4419600"/>
            <a:ext cx="48768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32" name="SVG text 1"/>
          <p:cNvSpPr txBox="1"/>
          <p:nvPr/>
        </p:nvSpPr>
        <p:spPr>
          <a:xfrm>
            <a:off x="1158240" y="4620920"/>
            <a:ext cx="116982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事实、证据、受众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1230630" y="4849520"/>
            <a:ext cx="10250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约束与可用素材</a:t>
            </a:r>
          </a:p>
        </p:txBody>
      </p:sp>
      <p:sp>
        <p:nvSpPr>
          <p:cNvPr id="34" name="SVG rect"/>
          <p:cNvSpPr/>
          <p:nvPr/>
        </p:nvSpPr>
        <p:spPr>
          <a:xfrm>
            <a:off x="304800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VG rect"/>
          <p:cNvSpPr/>
          <p:nvPr/>
        </p:nvSpPr>
        <p:spPr>
          <a:xfrm>
            <a:off x="298704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circle"/>
          <p:cNvSpPr/>
          <p:nvPr/>
        </p:nvSpPr>
        <p:spPr>
          <a:xfrm>
            <a:off x="3566160" y="2331720"/>
            <a:ext cx="731520" cy="7315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circle"/>
          <p:cNvSpPr/>
          <p:nvPr/>
        </p:nvSpPr>
        <p:spPr>
          <a:xfrm>
            <a:off x="3474720" y="2240280"/>
            <a:ext cx="914400" cy="91440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text 1"/>
          <p:cNvSpPr txBox="1"/>
          <p:nvPr/>
        </p:nvSpPr>
        <p:spPr>
          <a:xfrm>
            <a:off x="379402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9" name="SVG circle"/>
          <p:cNvSpPr/>
          <p:nvPr/>
        </p:nvSpPr>
        <p:spPr>
          <a:xfrm>
            <a:off x="3581400" y="3230880"/>
            <a:ext cx="701040" cy="70104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SVG text 1"/>
          <p:cNvSpPr txBox="1"/>
          <p:nvPr/>
        </p:nvSpPr>
        <p:spPr>
          <a:xfrm>
            <a:off x="383286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策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348813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263E6"/>
                </a:solidFill>
                <a:latin typeface="Microsoft YaHei"/>
              </a:rPr>
              <a:t>规划叙事</a:t>
            </a:r>
          </a:p>
        </p:txBody>
      </p:sp>
      <p:cxnSp>
        <p:nvCxnSpPr>
          <p:cNvPr id="42" name="SVG line"/>
          <p:cNvCxnSpPr/>
          <p:nvPr/>
        </p:nvCxnSpPr>
        <p:spPr>
          <a:xfrm>
            <a:off x="3688080" y="4419600"/>
            <a:ext cx="48768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43" name="SVG text 1"/>
          <p:cNvSpPr txBox="1"/>
          <p:nvPr/>
        </p:nvSpPr>
        <p:spPr>
          <a:xfrm>
            <a:off x="3352800" y="4620920"/>
            <a:ext cx="116982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问题链、关键结论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3425190" y="4849520"/>
            <a:ext cx="102504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视觉命题与节奏</a:t>
            </a:r>
          </a:p>
        </p:txBody>
      </p:sp>
      <p:sp>
        <p:nvSpPr>
          <p:cNvPr id="45" name="SVG rect"/>
          <p:cNvSpPr/>
          <p:nvPr/>
        </p:nvSpPr>
        <p:spPr>
          <a:xfrm>
            <a:off x="524256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rect"/>
          <p:cNvSpPr/>
          <p:nvPr/>
        </p:nvSpPr>
        <p:spPr>
          <a:xfrm>
            <a:off x="518160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circle"/>
          <p:cNvSpPr/>
          <p:nvPr/>
        </p:nvSpPr>
        <p:spPr>
          <a:xfrm>
            <a:off x="5760720" y="2331720"/>
            <a:ext cx="731520" cy="7315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SVG circle"/>
          <p:cNvSpPr/>
          <p:nvPr/>
        </p:nvSpPr>
        <p:spPr>
          <a:xfrm>
            <a:off x="5669280" y="2240280"/>
            <a:ext cx="914400" cy="914400"/>
          </a:xfrm>
          <a:prstGeom prst="ellipse">
            <a:avLst/>
          </a:prstGeom>
          <a:noFill/>
          <a:ln w="2286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VG text 1"/>
          <p:cNvSpPr txBox="1"/>
          <p:nvPr/>
        </p:nvSpPr>
        <p:spPr>
          <a:xfrm>
            <a:off x="598858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50" name="SVG circle"/>
          <p:cNvSpPr/>
          <p:nvPr/>
        </p:nvSpPr>
        <p:spPr>
          <a:xfrm>
            <a:off x="5775960" y="3230880"/>
            <a:ext cx="701040" cy="70104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text 1"/>
          <p:cNvSpPr txBox="1"/>
          <p:nvPr/>
        </p:nvSpPr>
        <p:spPr>
          <a:xfrm>
            <a:off x="602742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AABD"/>
                </a:solidFill>
                <a:latin typeface="Microsoft YaHei"/>
              </a:rPr>
              <a:t>画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5643860" y="4046525"/>
            <a:ext cx="982309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2AABD"/>
                </a:solidFill>
                <a:latin typeface="Microsoft YaHei"/>
              </a:rPr>
              <a:t>逐页 SVG</a:t>
            </a:r>
          </a:p>
        </p:txBody>
      </p:sp>
      <p:cxnSp>
        <p:nvCxnSpPr>
          <p:cNvPr id="53" name="SVG line"/>
          <p:cNvCxnSpPr/>
          <p:nvPr/>
        </p:nvCxnSpPr>
        <p:spPr>
          <a:xfrm>
            <a:off x="5882640" y="4419600"/>
            <a:ext cx="487680" cy="0"/>
          </a:xfrm>
          <a:prstGeom prst="line">
            <a:avLst/>
          </a:prstGeom>
          <a:ln w="22860">
            <a:solidFill>
              <a:srgbClr val="12AABD"/>
            </a:solidFill>
          </a:ln>
        </p:spPr>
      </p:cxnSp>
      <p:sp>
        <p:nvSpPr>
          <p:cNvPr id="54" name="SVG text 1"/>
          <p:cNvSpPr txBox="1"/>
          <p:nvPr/>
        </p:nvSpPr>
        <p:spPr>
          <a:xfrm>
            <a:off x="5474970" y="4620920"/>
            <a:ext cx="13146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完整画布、可见文字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5474970" y="4849520"/>
            <a:ext cx="13146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统一色彩与组件规则</a:t>
            </a:r>
          </a:p>
        </p:txBody>
      </p:sp>
      <p:sp>
        <p:nvSpPr>
          <p:cNvPr id="56" name="SVG rect"/>
          <p:cNvSpPr/>
          <p:nvPr/>
        </p:nvSpPr>
        <p:spPr>
          <a:xfrm>
            <a:off x="743712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SVG rect"/>
          <p:cNvSpPr/>
          <p:nvPr/>
        </p:nvSpPr>
        <p:spPr>
          <a:xfrm>
            <a:off x="737616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SVG circle"/>
          <p:cNvSpPr/>
          <p:nvPr/>
        </p:nvSpPr>
        <p:spPr>
          <a:xfrm>
            <a:off x="7955280" y="2331720"/>
            <a:ext cx="731520" cy="7315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circle"/>
          <p:cNvSpPr/>
          <p:nvPr/>
        </p:nvSpPr>
        <p:spPr>
          <a:xfrm>
            <a:off x="7863840" y="2240280"/>
            <a:ext cx="914400" cy="914400"/>
          </a:xfrm>
          <a:prstGeom prst="ellipse">
            <a:avLst/>
          </a:prstGeom>
          <a:noFill/>
          <a:ln w="2286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SVG text 1"/>
          <p:cNvSpPr txBox="1"/>
          <p:nvPr/>
        </p:nvSpPr>
        <p:spPr>
          <a:xfrm>
            <a:off x="818314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61" name="SVG circle"/>
          <p:cNvSpPr/>
          <p:nvPr/>
        </p:nvSpPr>
        <p:spPr>
          <a:xfrm>
            <a:off x="7970520" y="3230880"/>
            <a:ext cx="701040" cy="70104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SVG text 1"/>
          <p:cNvSpPr txBox="1"/>
          <p:nvPr/>
        </p:nvSpPr>
        <p:spPr>
          <a:xfrm>
            <a:off x="822198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审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787725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2DAA57"/>
                </a:solidFill>
                <a:latin typeface="Microsoft YaHei"/>
              </a:rPr>
              <a:t>验证复审</a:t>
            </a:r>
          </a:p>
        </p:txBody>
      </p:sp>
      <p:cxnSp>
        <p:nvCxnSpPr>
          <p:cNvPr id="64" name="SVG line"/>
          <p:cNvCxnSpPr/>
          <p:nvPr/>
        </p:nvCxnSpPr>
        <p:spPr>
          <a:xfrm>
            <a:off x="8077200" y="4419600"/>
            <a:ext cx="487680" cy="0"/>
          </a:xfrm>
          <a:prstGeom prst="line">
            <a:avLst/>
          </a:prstGeom>
          <a:ln w="22860">
            <a:solidFill>
              <a:srgbClr val="2DAA57"/>
            </a:solidFill>
          </a:ln>
        </p:spPr>
      </p:cxnSp>
      <p:sp>
        <p:nvSpPr>
          <p:cNvPr id="65" name="SVG text 1"/>
          <p:cNvSpPr txBox="1"/>
          <p:nvPr/>
        </p:nvSpPr>
        <p:spPr>
          <a:xfrm>
            <a:off x="7597140" y="4620920"/>
            <a:ext cx="145938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校验、渲染、逐页检查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7741920" y="4849520"/>
            <a:ext cx="116982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问题回到源稿修订</a:t>
            </a:r>
          </a:p>
        </p:txBody>
      </p:sp>
      <p:sp>
        <p:nvSpPr>
          <p:cNvPr id="67" name="SVG rect"/>
          <p:cNvSpPr/>
          <p:nvPr/>
        </p:nvSpPr>
        <p:spPr>
          <a:xfrm>
            <a:off x="963168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rect"/>
          <p:cNvSpPr/>
          <p:nvPr/>
        </p:nvSpPr>
        <p:spPr>
          <a:xfrm>
            <a:off x="957072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VG circle"/>
          <p:cNvSpPr/>
          <p:nvPr/>
        </p:nvSpPr>
        <p:spPr>
          <a:xfrm>
            <a:off x="10149840" y="2331720"/>
            <a:ext cx="731520" cy="7315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circle"/>
          <p:cNvSpPr/>
          <p:nvPr/>
        </p:nvSpPr>
        <p:spPr>
          <a:xfrm>
            <a:off x="10058400" y="2240280"/>
            <a:ext cx="914400" cy="914400"/>
          </a:xfrm>
          <a:prstGeom prst="ellipse">
            <a:avLst/>
          </a:prstGeom>
          <a:noFill/>
          <a:ln w="2286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text 1"/>
          <p:cNvSpPr txBox="1"/>
          <p:nvPr/>
        </p:nvSpPr>
        <p:spPr>
          <a:xfrm>
            <a:off x="10377708" y="2624328"/>
            <a:ext cx="294071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72" name="SVG circle"/>
          <p:cNvSpPr/>
          <p:nvPr/>
        </p:nvSpPr>
        <p:spPr>
          <a:xfrm>
            <a:off x="10165080" y="3230880"/>
            <a:ext cx="701040" cy="701040"/>
          </a:xfrm>
          <a:prstGeom prst="ellipse">
            <a:avLst/>
          </a:prstGeom>
          <a:solidFill>
            <a:srgbClr val="FFF5D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SVG text 1"/>
          <p:cNvSpPr txBox="1"/>
          <p:nvPr/>
        </p:nvSpPr>
        <p:spPr>
          <a:xfrm>
            <a:off x="10416540" y="3501390"/>
            <a:ext cx="213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9500"/>
                </a:solidFill>
                <a:latin typeface="Microsoft YaHei"/>
              </a:rPr>
              <a:t>交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071811" y="4046525"/>
            <a:ext cx="904646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E99500"/>
                </a:solidFill>
                <a:latin typeface="Microsoft YaHei"/>
              </a:rPr>
              <a:t>编译交付</a:t>
            </a:r>
          </a:p>
        </p:txBody>
      </p:sp>
      <p:cxnSp>
        <p:nvCxnSpPr>
          <p:cNvPr id="75" name="SVG line"/>
          <p:cNvCxnSpPr/>
          <p:nvPr/>
        </p:nvCxnSpPr>
        <p:spPr>
          <a:xfrm>
            <a:off x="10271760" y="4419600"/>
            <a:ext cx="487680" cy="0"/>
          </a:xfrm>
          <a:prstGeom prst="line">
            <a:avLst/>
          </a:prstGeom>
          <a:ln w="22860">
            <a:solidFill>
              <a:srgbClr val="FFB21A"/>
            </a:solidFill>
          </a:ln>
        </p:spPr>
      </p:cxnSp>
      <p:sp>
        <p:nvSpPr>
          <p:cNvPr id="76" name="SVG text 1"/>
          <p:cNvSpPr txBox="1"/>
          <p:nvPr/>
        </p:nvSpPr>
        <p:spPr>
          <a:xfrm>
            <a:off x="10006698" y="4620920"/>
            <a:ext cx="1029386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PPTX、源 SVG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9864090" y="4849520"/>
            <a:ext cx="1314602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编译报告与验证结果</a:t>
            </a:r>
          </a:p>
        </p:txBody>
      </p:sp>
      <p:sp>
        <p:nvSpPr>
          <p:cNvPr id="78" name="SVG rect"/>
          <p:cNvSpPr/>
          <p:nvPr/>
        </p:nvSpPr>
        <p:spPr>
          <a:xfrm>
            <a:off x="731520" y="5806440"/>
            <a:ext cx="10728960" cy="624840"/>
          </a:xfrm>
          <a:prstGeom prst="roundRect">
            <a:avLst>
              <a:gd name="adj" fmla="val 21951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SVG circle"/>
          <p:cNvSpPr/>
          <p:nvPr/>
        </p:nvSpPr>
        <p:spPr>
          <a:xfrm>
            <a:off x="899160" y="5920740"/>
            <a:ext cx="396240" cy="3962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SVG text 1"/>
          <p:cNvSpPr txBox="1"/>
          <p:nvPr/>
        </p:nvSpPr>
        <p:spPr>
          <a:xfrm>
            <a:off x="1050207" y="604997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↺</a:t>
            </a:r>
          </a:p>
        </p:txBody>
      </p:sp>
      <p:sp>
        <p:nvSpPr>
          <p:cNvPr id="81" name="SVG text 1"/>
          <p:cNvSpPr txBox="1"/>
          <p:nvPr/>
        </p:nvSpPr>
        <p:spPr>
          <a:xfrm>
            <a:off x="1447800" y="5914187"/>
            <a:ext cx="4816846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73A73"/>
                </a:solidFill>
                <a:latin typeface="Microsoft YaHei"/>
              </a:rPr>
              <a:t>发现问题就回到 SVG：源文件始终是后续修改的唯一入口。</a:t>
            </a:r>
          </a:p>
        </p:txBody>
      </p:sp>
      <p:sp>
        <p:nvSpPr>
          <p:cNvPr id="82" name="SVG text 1"/>
          <p:cNvSpPr txBox="1"/>
          <p:nvPr/>
        </p:nvSpPr>
        <p:spPr>
          <a:xfrm>
            <a:off x="1447800" y="6174029"/>
            <a:ext cx="27541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不复制无限版本，不用整页截图掩盖转换问题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10578694" y="607496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 dirty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6872"/>
            <a:ext cx="5800240" cy="356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40" b="1" i="0" dirty="0" err="1">
                <a:solidFill>
                  <a:srgbClr val="0A1B3E"/>
                </a:solidFill>
                <a:latin typeface="Microsoft YaHei"/>
              </a:rPr>
              <a:t>一页</a:t>
            </a:r>
            <a:r>
              <a:rPr sz="2340" b="1" i="0" dirty="0">
                <a:solidFill>
                  <a:srgbClr val="0A1B3E"/>
                </a:solidFill>
                <a:latin typeface="Microsoft YaHei"/>
              </a:rPr>
              <a:t> SVG </a:t>
            </a:r>
            <a:r>
              <a:rPr sz="2340" b="1" i="0" dirty="0" err="1">
                <a:solidFill>
                  <a:srgbClr val="0A1B3E"/>
                </a:solidFill>
                <a:latin typeface="Microsoft YaHei"/>
              </a:rPr>
              <a:t>同时承担设计、预览和编译真源</a:t>
            </a:r>
            <a:endParaRPr sz="2340" b="1" i="0" dirty="0">
              <a:solidFill>
                <a:srgbClr val="0A1B3E"/>
              </a:solidFill>
              <a:latin typeface="Microsoft YaHei"/>
            </a:endParaRP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244099" y="533857"/>
            <a:ext cx="1226744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SOURCE OF TRUTH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02754" y="1584655"/>
            <a:ext cx="130223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897624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完整页面、所有可见元素和后续修改入口，都归到同一份源文件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6477000" cy="3169920"/>
          </a:xfrm>
          <a:prstGeom prst="roundRect">
            <a:avLst>
              <a:gd name="adj" fmla="val 5288"/>
            </a:avLst>
          </a:prstGeom>
          <a:solidFill>
            <a:srgbClr val="DFE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6477000" cy="3169920"/>
          </a:xfrm>
          <a:prstGeom prst="roundRect">
            <a:avLst>
              <a:gd name="adj" fmla="val 5288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6477000" cy="441960"/>
          </a:xfrm>
          <a:prstGeom prst="roundRect">
            <a:avLst>
              <a:gd name="adj" fmla="val 37931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731520" y="2651760"/>
            <a:ext cx="647700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text 1"/>
          <p:cNvSpPr txBox="1"/>
          <p:nvPr/>
        </p:nvSpPr>
        <p:spPr>
          <a:xfrm>
            <a:off x="1005840" y="2526792"/>
            <a:ext cx="224698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SLIDE_05.SVG · 1600 × 900</a:t>
            </a:r>
          </a:p>
        </p:txBody>
      </p:sp>
      <p:sp>
        <p:nvSpPr>
          <p:cNvPr id="23" name="SVG circle"/>
          <p:cNvSpPr/>
          <p:nvPr/>
        </p:nvSpPr>
        <p:spPr>
          <a:xfrm>
            <a:off x="6766560" y="2499360"/>
            <a:ext cx="182880" cy="1828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VG rect"/>
          <p:cNvSpPr/>
          <p:nvPr/>
        </p:nvSpPr>
        <p:spPr>
          <a:xfrm>
            <a:off x="1005840" y="3048000"/>
            <a:ext cx="3581400" cy="18288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rect"/>
          <p:cNvSpPr/>
          <p:nvPr/>
        </p:nvSpPr>
        <p:spPr>
          <a:xfrm>
            <a:off x="1005840" y="3383280"/>
            <a:ext cx="2423160" cy="8382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VG rect"/>
          <p:cNvSpPr/>
          <p:nvPr/>
        </p:nvSpPr>
        <p:spPr>
          <a:xfrm>
            <a:off x="1005840" y="3764280"/>
            <a:ext cx="2514600" cy="1280160"/>
          </a:xfrm>
          <a:prstGeom prst="roundRect">
            <a:avLst>
              <a:gd name="adj" fmla="val 7142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circle"/>
          <p:cNvSpPr/>
          <p:nvPr/>
        </p:nvSpPr>
        <p:spPr>
          <a:xfrm>
            <a:off x="1821180" y="3962400"/>
            <a:ext cx="883920" cy="883920"/>
          </a:xfrm>
          <a:prstGeom prst="ellipse">
            <a:avLst/>
          </a:prstGeom>
          <a:solidFill>
            <a:srgbClr val="B7F24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circle"/>
          <p:cNvSpPr/>
          <p:nvPr/>
        </p:nvSpPr>
        <p:spPr>
          <a:xfrm>
            <a:off x="1668780" y="3810000"/>
            <a:ext cx="1188720" cy="1188720"/>
          </a:xfrm>
          <a:prstGeom prst="ellipse">
            <a:avLst/>
          </a:prstGeom>
          <a:noFill/>
          <a:ln w="228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rect"/>
          <p:cNvSpPr/>
          <p:nvPr/>
        </p:nvSpPr>
        <p:spPr>
          <a:xfrm>
            <a:off x="3810000" y="3764280"/>
            <a:ext cx="3017520" cy="1905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VG rect"/>
          <p:cNvSpPr/>
          <p:nvPr/>
        </p:nvSpPr>
        <p:spPr>
          <a:xfrm>
            <a:off x="3810000" y="4175760"/>
            <a:ext cx="249936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VG rect"/>
          <p:cNvSpPr/>
          <p:nvPr/>
        </p:nvSpPr>
        <p:spPr>
          <a:xfrm>
            <a:off x="3810000" y="4419600"/>
            <a:ext cx="274320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rect"/>
          <p:cNvSpPr/>
          <p:nvPr/>
        </p:nvSpPr>
        <p:spPr>
          <a:xfrm>
            <a:off x="3810000" y="4663440"/>
            <a:ext cx="205740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SVG line"/>
          <p:cNvCxnSpPr/>
          <p:nvPr/>
        </p:nvCxnSpPr>
        <p:spPr>
          <a:xfrm>
            <a:off x="3810000" y="5029200"/>
            <a:ext cx="2865120" cy="0"/>
          </a:xfrm>
          <a:prstGeom prst="line">
            <a:avLst/>
          </a:prstGeom>
          <a:ln w="30480">
            <a:solidFill>
              <a:srgbClr val="12AABD"/>
            </a:solidFill>
          </a:ln>
        </p:spPr>
      </p:cxnSp>
      <p:sp>
        <p:nvSpPr>
          <p:cNvPr id="34" name="SVG text 1"/>
          <p:cNvSpPr txBox="1"/>
          <p:nvPr/>
        </p:nvSpPr>
        <p:spPr>
          <a:xfrm>
            <a:off x="4632960" y="5206289"/>
            <a:ext cx="220553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文本、图形和关系都在同一坐标系中</a:t>
            </a:r>
          </a:p>
        </p:txBody>
      </p:sp>
      <p:sp>
        <p:nvSpPr>
          <p:cNvPr id="35" name="SVG rect"/>
          <p:cNvSpPr/>
          <p:nvPr/>
        </p:nvSpPr>
        <p:spPr>
          <a:xfrm>
            <a:off x="7620000" y="242316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rect"/>
          <p:cNvSpPr/>
          <p:nvPr/>
        </p:nvSpPr>
        <p:spPr>
          <a:xfrm>
            <a:off x="7559040" y="236220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circle"/>
          <p:cNvSpPr/>
          <p:nvPr/>
        </p:nvSpPr>
        <p:spPr>
          <a:xfrm>
            <a:off x="7711440" y="251460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text 1"/>
          <p:cNvSpPr txBox="1"/>
          <p:nvPr/>
        </p:nvSpPr>
        <p:spPr>
          <a:xfrm>
            <a:off x="7837627" y="2659075"/>
            <a:ext cx="187757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设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8260080" y="2495550"/>
            <a:ext cx="8077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定义视觉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8260080" y="2798369"/>
            <a:ext cx="220553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层级、空间、颜色、文案与图像关系</a:t>
            </a:r>
          </a:p>
        </p:txBody>
      </p:sp>
      <p:sp>
        <p:nvSpPr>
          <p:cNvPr id="41" name="SVG rect"/>
          <p:cNvSpPr/>
          <p:nvPr/>
        </p:nvSpPr>
        <p:spPr>
          <a:xfrm>
            <a:off x="7620000" y="327660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SVG rect"/>
          <p:cNvSpPr/>
          <p:nvPr/>
        </p:nvSpPr>
        <p:spPr>
          <a:xfrm>
            <a:off x="7559040" y="321564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VG circle"/>
          <p:cNvSpPr/>
          <p:nvPr/>
        </p:nvSpPr>
        <p:spPr>
          <a:xfrm>
            <a:off x="7711440" y="3368040"/>
            <a:ext cx="426720" cy="4267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SVG text 1"/>
          <p:cNvSpPr txBox="1"/>
          <p:nvPr/>
        </p:nvSpPr>
        <p:spPr>
          <a:xfrm>
            <a:off x="7837627" y="3512515"/>
            <a:ext cx="187757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预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8260080" y="3348990"/>
            <a:ext cx="8077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AABD"/>
                </a:solidFill>
                <a:latin typeface="Microsoft YaHei"/>
              </a:rPr>
              <a:t>生成预览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8260080" y="3651809"/>
            <a:ext cx="184205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渲染为 PNG，供真实视觉复审</a:t>
            </a:r>
          </a:p>
        </p:txBody>
      </p:sp>
      <p:sp>
        <p:nvSpPr>
          <p:cNvPr id="47" name="SVG rect"/>
          <p:cNvSpPr/>
          <p:nvPr/>
        </p:nvSpPr>
        <p:spPr>
          <a:xfrm>
            <a:off x="7620000" y="413004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SVG rect"/>
          <p:cNvSpPr/>
          <p:nvPr/>
        </p:nvSpPr>
        <p:spPr>
          <a:xfrm>
            <a:off x="7559040" y="406908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VG circle"/>
          <p:cNvSpPr/>
          <p:nvPr/>
        </p:nvSpPr>
        <p:spPr>
          <a:xfrm>
            <a:off x="7711440" y="4221480"/>
            <a:ext cx="426720" cy="4267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VG text 1"/>
          <p:cNvSpPr txBox="1"/>
          <p:nvPr/>
        </p:nvSpPr>
        <p:spPr>
          <a:xfrm>
            <a:off x="7837627" y="4365955"/>
            <a:ext cx="187757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审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8260080" y="4202430"/>
            <a:ext cx="8077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承载复审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8260080" y="4505249"/>
            <a:ext cx="20683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问题直接回到源稿，不改编译产物</a:t>
            </a:r>
          </a:p>
        </p:txBody>
      </p:sp>
      <p:sp>
        <p:nvSpPr>
          <p:cNvPr id="53" name="SVG rect"/>
          <p:cNvSpPr/>
          <p:nvPr/>
        </p:nvSpPr>
        <p:spPr>
          <a:xfrm>
            <a:off x="7620000" y="4983480"/>
            <a:ext cx="3840480" cy="609600"/>
          </a:xfrm>
          <a:prstGeom prst="roundRect">
            <a:avLst>
              <a:gd name="adj" fmla="val 225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rect"/>
          <p:cNvSpPr/>
          <p:nvPr/>
        </p:nvSpPr>
        <p:spPr>
          <a:xfrm>
            <a:off x="7559040" y="4922520"/>
            <a:ext cx="3840480" cy="60960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circle"/>
          <p:cNvSpPr/>
          <p:nvPr/>
        </p:nvSpPr>
        <p:spPr>
          <a:xfrm>
            <a:off x="7711440" y="5013960"/>
            <a:ext cx="426720" cy="4267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SVG text 1"/>
          <p:cNvSpPr txBox="1"/>
          <p:nvPr/>
        </p:nvSpPr>
        <p:spPr>
          <a:xfrm>
            <a:off x="7837627" y="5158435"/>
            <a:ext cx="187757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8260080" y="5010150"/>
            <a:ext cx="8077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9500"/>
                </a:solidFill>
                <a:latin typeface="Microsoft YaHei"/>
              </a:rPr>
              <a:t>编译对象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8260080" y="5297729"/>
            <a:ext cx="1840687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转换为 PowerPoint 原生内容</a:t>
            </a:r>
          </a:p>
        </p:txBody>
      </p:sp>
      <p:sp>
        <p:nvSpPr>
          <p:cNvPr id="59" name="SVG rect"/>
          <p:cNvSpPr/>
          <p:nvPr/>
        </p:nvSpPr>
        <p:spPr>
          <a:xfrm>
            <a:off x="731520" y="5867400"/>
            <a:ext cx="10728960" cy="563880"/>
          </a:xfrm>
          <a:prstGeom prst="roundRect">
            <a:avLst>
              <a:gd name="adj" fmla="val 24324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SVG circle"/>
          <p:cNvSpPr/>
          <p:nvPr/>
        </p:nvSpPr>
        <p:spPr>
          <a:xfrm>
            <a:off x="906780" y="595884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SVG text 1"/>
          <p:cNvSpPr txBox="1"/>
          <p:nvPr/>
        </p:nvSpPr>
        <p:spPr>
          <a:xfrm>
            <a:off x="1052346" y="6086704"/>
            <a:ext cx="102669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↺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1432560" y="6060338"/>
            <a:ext cx="4836079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修改入口始终清晰：回到 SVG，重新校验、渲染与编译。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10578694" y="609782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573024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0A1B3E"/>
                </a:solidFill>
                <a:latin typeface="Microsoft YaHei"/>
              </a:rPr>
              <a:t>转换策略优先保留编辑能力，再保住视觉</a:t>
            </a:r>
            <a:endParaRPr sz="2400" b="1" i="0" dirty="0">
              <a:solidFill>
                <a:srgbClr val="0A1B3E"/>
              </a:solidFill>
              <a:latin typeface="Microsoft YaHei"/>
            </a:endParaRP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505770" y="533857"/>
            <a:ext cx="96507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EDITABILITY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⇢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548774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原生对象 → Office SVG 降级 → 明确失败；没有“悄悄丢掉”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73152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731520" y="2926080"/>
            <a:ext cx="3230880" cy="167640"/>
          </a:xfrm>
          <a:prstGeom prst="rect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circle"/>
          <p:cNvSpPr/>
          <p:nvPr/>
        </p:nvSpPr>
        <p:spPr>
          <a:xfrm>
            <a:off x="944880" y="2514600"/>
            <a:ext cx="457200" cy="457200"/>
          </a:xfrm>
          <a:prstGeom prst="ellipse">
            <a:avLst/>
          </a:prstGeom>
          <a:solidFill>
            <a:srgbClr val="FFFFFF">
              <a:alpha val="20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VG text 1"/>
          <p:cNvSpPr txBox="1"/>
          <p:nvPr/>
        </p:nvSpPr>
        <p:spPr>
          <a:xfrm>
            <a:off x="1122127" y="2669438"/>
            <a:ext cx="117336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554480" y="2513533"/>
            <a:ext cx="1728216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原生 PowerPoint</a:t>
            </a:r>
          </a:p>
        </p:txBody>
      </p:sp>
      <p:sp>
        <p:nvSpPr>
          <p:cNvPr id="25" name="SVG text 1"/>
          <p:cNvSpPr txBox="1"/>
          <p:nvPr/>
        </p:nvSpPr>
        <p:spPr>
          <a:xfrm>
            <a:off x="1554480" y="2813609"/>
            <a:ext cx="141274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DCEAFF"/>
                </a:solidFill>
                <a:latin typeface="Microsoft YaHei"/>
              </a:rPr>
              <a:t>优先路径 · 逐项可编辑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975360" y="3364230"/>
            <a:ext cx="140208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A73"/>
                </a:solidFill>
                <a:latin typeface="Microsoft YaHei"/>
              </a:rPr>
              <a:t>文本与基础图形</a:t>
            </a:r>
          </a:p>
        </p:txBody>
      </p:sp>
      <p:sp>
        <p:nvSpPr>
          <p:cNvPr id="27" name="SVG text 1"/>
          <p:cNvSpPr txBox="1"/>
          <p:nvPr/>
        </p:nvSpPr>
        <p:spPr>
          <a:xfrm>
            <a:off x="975360" y="3700272"/>
            <a:ext cx="107289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text / tspan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975360" y="3959352"/>
            <a:ext cx="2432304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rect / circle / ellipse / line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975360" y="4218432"/>
            <a:ext cx="276148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image / polygon / polyline / group</a:t>
            </a:r>
          </a:p>
        </p:txBody>
      </p:sp>
      <p:cxnSp>
        <p:nvCxnSpPr>
          <p:cNvPr id="30" name="SVG line"/>
          <p:cNvCxnSpPr/>
          <p:nvPr/>
        </p:nvCxnSpPr>
        <p:spPr>
          <a:xfrm>
            <a:off x="975360" y="4632960"/>
            <a:ext cx="2743200" cy="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31" name="SVG text 1"/>
          <p:cNvSpPr txBox="1"/>
          <p:nvPr/>
        </p:nvSpPr>
        <p:spPr>
          <a:xfrm>
            <a:off x="975360" y="4821784"/>
            <a:ext cx="345643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263E6"/>
                </a:solidFill>
                <a:latin typeface="Microsoft YaHei"/>
              </a:rPr>
              <a:t>结果</a:t>
            </a:r>
          </a:p>
        </p:txBody>
      </p:sp>
      <p:sp>
        <p:nvSpPr>
          <p:cNvPr id="32" name="SVG text 1"/>
          <p:cNvSpPr txBox="1"/>
          <p:nvPr/>
        </p:nvSpPr>
        <p:spPr>
          <a:xfrm>
            <a:off x="1447800" y="4840529"/>
            <a:ext cx="17940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可搜索、可复制、可逐项修改</a:t>
            </a:r>
          </a:p>
        </p:txBody>
      </p:sp>
      <p:sp>
        <p:nvSpPr>
          <p:cNvPr id="33" name="SVG rect"/>
          <p:cNvSpPr/>
          <p:nvPr/>
        </p:nvSpPr>
        <p:spPr>
          <a:xfrm>
            <a:off x="97536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VG rect"/>
          <p:cNvSpPr/>
          <p:nvPr/>
        </p:nvSpPr>
        <p:spPr>
          <a:xfrm>
            <a:off x="975360" y="5135880"/>
            <a:ext cx="2423160" cy="152400"/>
          </a:xfrm>
          <a:prstGeom prst="roundRect">
            <a:avLst>
              <a:gd name="adj" fmla="val 5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VG rect"/>
          <p:cNvSpPr/>
          <p:nvPr/>
        </p:nvSpPr>
        <p:spPr>
          <a:xfrm>
            <a:off x="454152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rect"/>
          <p:cNvSpPr/>
          <p:nvPr/>
        </p:nvSpPr>
        <p:spPr>
          <a:xfrm>
            <a:off x="448056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rect"/>
          <p:cNvSpPr/>
          <p:nvPr/>
        </p:nvSpPr>
        <p:spPr>
          <a:xfrm>
            <a:off x="448056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rect"/>
          <p:cNvSpPr/>
          <p:nvPr/>
        </p:nvSpPr>
        <p:spPr>
          <a:xfrm>
            <a:off x="4480560" y="2926080"/>
            <a:ext cx="3230880" cy="167640"/>
          </a:xfrm>
          <a:prstGeom prst="rect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SVG circle"/>
          <p:cNvSpPr/>
          <p:nvPr/>
        </p:nvSpPr>
        <p:spPr>
          <a:xfrm>
            <a:off x="4693920" y="2514600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SVG text 1"/>
          <p:cNvSpPr txBox="1"/>
          <p:nvPr/>
        </p:nvSpPr>
        <p:spPr>
          <a:xfrm>
            <a:off x="4871167" y="2669438"/>
            <a:ext cx="117336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△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5303520" y="2494788"/>
            <a:ext cx="193450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Office SVG 降级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5303520" y="2813609"/>
            <a:ext cx="141274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F7E8"/>
                </a:solidFill>
                <a:latin typeface="Microsoft YaHei"/>
              </a:rPr>
              <a:t>保真路径 · 整体可编辑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4724400" y="3364230"/>
            <a:ext cx="12039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B5B00"/>
                </a:solidFill>
                <a:latin typeface="Microsoft YaHei"/>
              </a:rPr>
              <a:t>复杂视觉元素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4724400" y="3700272"/>
            <a:ext cx="298399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complex path / marker / 虚线 freeform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4724400" y="3959352"/>
            <a:ext cx="143256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渐变 / 裁剪 / 旋转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4724400" y="4218432"/>
            <a:ext cx="222351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兼容 PNG + Office SVG 关系</a:t>
            </a:r>
          </a:p>
        </p:txBody>
      </p:sp>
      <p:cxnSp>
        <p:nvCxnSpPr>
          <p:cNvPr id="47" name="SVG line"/>
          <p:cNvCxnSpPr/>
          <p:nvPr/>
        </p:nvCxnSpPr>
        <p:spPr>
          <a:xfrm>
            <a:off x="4724400" y="4632960"/>
            <a:ext cx="2743200" cy="0"/>
          </a:xfrm>
          <a:prstGeom prst="line">
            <a:avLst/>
          </a:prstGeom>
          <a:ln w="15240">
            <a:solidFill>
              <a:srgbClr val="FFE1A8"/>
            </a:solidFill>
          </a:ln>
        </p:spPr>
      </p:cxnSp>
      <p:sp>
        <p:nvSpPr>
          <p:cNvPr id="48" name="SVG text 1"/>
          <p:cNvSpPr txBox="1"/>
          <p:nvPr/>
        </p:nvSpPr>
        <p:spPr>
          <a:xfrm>
            <a:off x="4724400" y="4821784"/>
            <a:ext cx="345643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E99500"/>
                </a:solidFill>
                <a:latin typeface="Microsoft YaHei"/>
              </a:rPr>
              <a:t>结果</a:t>
            </a:r>
          </a:p>
        </p:txBody>
      </p:sp>
      <p:sp>
        <p:nvSpPr>
          <p:cNvPr id="49" name="SVG text 1"/>
          <p:cNvSpPr txBox="1"/>
          <p:nvPr/>
        </p:nvSpPr>
        <p:spPr>
          <a:xfrm>
            <a:off x="5196840" y="4840529"/>
            <a:ext cx="165689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外观保留，内部路径不原生</a:t>
            </a:r>
          </a:p>
        </p:txBody>
      </p:sp>
      <p:sp>
        <p:nvSpPr>
          <p:cNvPr id="50" name="SVG rect"/>
          <p:cNvSpPr/>
          <p:nvPr/>
        </p:nvSpPr>
        <p:spPr>
          <a:xfrm>
            <a:off x="472440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rect"/>
          <p:cNvSpPr/>
          <p:nvPr/>
        </p:nvSpPr>
        <p:spPr>
          <a:xfrm>
            <a:off x="4724400" y="5135880"/>
            <a:ext cx="1752600" cy="152400"/>
          </a:xfrm>
          <a:prstGeom prst="roundRect">
            <a:avLst>
              <a:gd name="adj" fmla="val 50000"/>
            </a:avLst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rect"/>
          <p:cNvSpPr/>
          <p:nvPr/>
        </p:nvSpPr>
        <p:spPr>
          <a:xfrm>
            <a:off x="829056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rect"/>
          <p:cNvSpPr/>
          <p:nvPr/>
        </p:nvSpPr>
        <p:spPr>
          <a:xfrm>
            <a:off x="822960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F5B5B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rect"/>
          <p:cNvSpPr/>
          <p:nvPr/>
        </p:nvSpPr>
        <p:spPr>
          <a:xfrm>
            <a:off x="822960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rect"/>
          <p:cNvSpPr/>
          <p:nvPr/>
        </p:nvSpPr>
        <p:spPr>
          <a:xfrm>
            <a:off x="8229600" y="2926080"/>
            <a:ext cx="3230880" cy="167640"/>
          </a:xfrm>
          <a:prstGeom prst="rect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SVG circle"/>
          <p:cNvSpPr/>
          <p:nvPr/>
        </p:nvSpPr>
        <p:spPr>
          <a:xfrm>
            <a:off x="8442960" y="2514600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SVG text 1"/>
          <p:cNvSpPr txBox="1"/>
          <p:nvPr/>
        </p:nvSpPr>
        <p:spPr>
          <a:xfrm>
            <a:off x="8620207" y="2669438"/>
            <a:ext cx="117336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9052560" y="2494788"/>
            <a:ext cx="969264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明确失败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9052560" y="2813609"/>
            <a:ext cx="1275588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9EA"/>
                </a:solidFill>
                <a:latin typeface="Microsoft YaHei"/>
              </a:rPr>
              <a:t>阻断路径 · 给出诊断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8473440" y="3364230"/>
            <a:ext cx="140208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52229"/>
                </a:solidFill>
                <a:latin typeface="Microsoft YaHei"/>
              </a:rPr>
              <a:t>不可靠或不安全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473440" y="3700272"/>
            <a:ext cx="1517904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禁止元素或远程资源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8473440" y="3959352"/>
            <a:ext cx="1517904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无法保真的可见内容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8473440" y="4218432"/>
            <a:ext cx="1420368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非法 PPTX 包关系</a:t>
            </a:r>
          </a:p>
        </p:txBody>
      </p:sp>
      <p:cxnSp>
        <p:nvCxnSpPr>
          <p:cNvPr id="64" name="SVG line"/>
          <p:cNvCxnSpPr/>
          <p:nvPr/>
        </p:nvCxnSpPr>
        <p:spPr>
          <a:xfrm>
            <a:off x="8473440" y="4632960"/>
            <a:ext cx="2743200" cy="0"/>
          </a:xfrm>
          <a:prstGeom prst="line">
            <a:avLst/>
          </a:prstGeom>
          <a:ln w="15240">
            <a:solidFill>
              <a:srgbClr val="FAD1D4"/>
            </a:solidFill>
          </a:ln>
        </p:spPr>
      </p:cxnSp>
      <p:sp>
        <p:nvSpPr>
          <p:cNvPr id="65" name="SVG text 1"/>
          <p:cNvSpPr txBox="1"/>
          <p:nvPr/>
        </p:nvSpPr>
        <p:spPr>
          <a:xfrm>
            <a:off x="8473440" y="4821784"/>
            <a:ext cx="345643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EA3B42"/>
                </a:solidFill>
                <a:latin typeface="Microsoft YaHei"/>
              </a:rPr>
              <a:t>结果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8945880" y="4840529"/>
            <a:ext cx="151973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不写出半成品，明确报错</a:t>
            </a:r>
          </a:p>
        </p:txBody>
      </p:sp>
      <p:sp>
        <p:nvSpPr>
          <p:cNvPr id="67" name="SVG rect"/>
          <p:cNvSpPr/>
          <p:nvPr/>
        </p:nvSpPr>
        <p:spPr>
          <a:xfrm>
            <a:off x="847344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rect"/>
          <p:cNvSpPr/>
          <p:nvPr/>
        </p:nvSpPr>
        <p:spPr>
          <a:xfrm>
            <a:off x="8473440" y="5135880"/>
            <a:ext cx="670560" cy="152400"/>
          </a:xfrm>
          <a:prstGeom prst="roundRect">
            <a:avLst>
              <a:gd name="adj" fmla="val 50000"/>
            </a:avLst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VG rect"/>
          <p:cNvSpPr/>
          <p:nvPr/>
        </p:nvSpPr>
        <p:spPr>
          <a:xfrm>
            <a:off x="731520" y="5806440"/>
            <a:ext cx="10728960" cy="624840"/>
          </a:xfrm>
          <a:prstGeom prst="roundRect">
            <a:avLst>
              <a:gd name="adj" fmla="val 21951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circle"/>
          <p:cNvSpPr/>
          <p:nvPr/>
        </p:nvSpPr>
        <p:spPr>
          <a:xfrm>
            <a:off x="899160" y="5920740"/>
            <a:ext cx="396240" cy="3962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text 1"/>
          <p:cNvSpPr txBox="1"/>
          <p:nvPr/>
        </p:nvSpPr>
        <p:spPr>
          <a:xfrm>
            <a:off x="1050207" y="604997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#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1447800" y="5914187"/>
            <a:ext cx="4567135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73A73"/>
                </a:solidFill>
                <a:latin typeface="Microsoft YaHei"/>
              </a:rPr>
              <a:t>编译报告始终记录 native、embedded_svg 与 failed。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447800" y="6174029"/>
            <a:ext cx="2320747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只要 failed 不为 0，就不能进入交付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578694" y="607496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07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39369"/>
            <a:ext cx="6382445" cy="33832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20" b="1" i="0">
                <a:solidFill>
                  <a:srgbClr val="0A1B3E"/>
                </a:solidFill>
                <a:latin typeface="Microsoft YaHei"/>
              </a:rPr>
              <a:t>真正的质量闭环，要同时看 SVG 和 PowerPoint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461727" y="533857"/>
            <a:ext cx="1009117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QUALITY LOOP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445593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结构校验负责“正确”，逐页复审负责“可信”，两者缺一不可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circle"/>
          <p:cNvSpPr/>
          <p:nvPr/>
        </p:nvSpPr>
        <p:spPr>
          <a:xfrm>
            <a:off x="883920" y="246126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text 1"/>
          <p:cNvSpPr txBox="1"/>
          <p:nvPr/>
        </p:nvSpPr>
        <p:spPr>
          <a:xfrm>
            <a:off x="1000756" y="261198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1478280" y="2465070"/>
            <a:ext cx="877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校验 SVG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478280" y="2745029"/>
            <a:ext cx="220553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检查画布、安全、资源、元素与边界</a:t>
            </a:r>
          </a:p>
        </p:txBody>
      </p:sp>
      <p:sp>
        <p:nvSpPr>
          <p:cNvPr id="24" name="SVG circle"/>
          <p:cNvSpPr/>
          <p:nvPr/>
        </p:nvSpPr>
        <p:spPr>
          <a:xfrm>
            <a:off x="5760720" y="253746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text 1"/>
          <p:cNvSpPr txBox="1"/>
          <p:nvPr/>
        </p:nvSpPr>
        <p:spPr>
          <a:xfrm>
            <a:off x="5861505" y="262935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26" name="SVG rect"/>
          <p:cNvSpPr/>
          <p:nvPr/>
        </p:nvSpPr>
        <p:spPr>
          <a:xfrm>
            <a:off x="792480" y="315468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VG rect"/>
          <p:cNvSpPr/>
          <p:nvPr/>
        </p:nvSpPr>
        <p:spPr>
          <a:xfrm>
            <a:off x="731520" y="309372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circle"/>
          <p:cNvSpPr/>
          <p:nvPr/>
        </p:nvSpPr>
        <p:spPr>
          <a:xfrm>
            <a:off x="883920" y="3192780"/>
            <a:ext cx="426720" cy="4267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text 1"/>
          <p:cNvSpPr txBox="1"/>
          <p:nvPr/>
        </p:nvSpPr>
        <p:spPr>
          <a:xfrm>
            <a:off x="1000756" y="334350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1478280" y="3196590"/>
            <a:ext cx="877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AABD"/>
                </a:solidFill>
                <a:latin typeface="Microsoft YaHei"/>
              </a:rPr>
              <a:t>渲染 PNG</a:t>
            </a:r>
          </a:p>
        </p:txBody>
      </p:sp>
      <p:sp>
        <p:nvSpPr>
          <p:cNvPr id="31" name="SVG text 1"/>
          <p:cNvSpPr txBox="1"/>
          <p:nvPr/>
        </p:nvSpPr>
        <p:spPr>
          <a:xfrm>
            <a:off x="1478280" y="3476549"/>
            <a:ext cx="20258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把结构化 SVG 变成实际可见页面</a:t>
            </a:r>
          </a:p>
        </p:txBody>
      </p:sp>
      <p:sp>
        <p:nvSpPr>
          <p:cNvPr id="32" name="SVG circle"/>
          <p:cNvSpPr/>
          <p:nvPr/>
        </p:nvSpPr>
        <p:spPr>
          <a:xfrm>
            <a:off x="5760720" y="326898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VG text 1"/>
          <p:cNvSpPr txBox="1"/>
          <p:nvPr/>
        </p:nvSpPr>
        <p:spPr>
          <a:xfrm>
            <a:off x="5861505" y="336087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34" name="SVG rect"/>
          <p:cNvSpPr/>
          <p:nvPr/>
        </p:nvSpPr>
        <p:spPr>
          <a:xfrm>
            <a:off x="792480" y="388620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SVG rect"/>
          <p:cNvSpPr/>
          <p:nvPr/>
        </p:nvSpPr>
        <p:spPr>
          <a:xfrm>
            <a:off x="731520" y="382524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circle"/>
          <p:cNvSpPr/>
          <p:nvPr/>
        </p:nvSpPr>
        <p:spPr>
          <a:xfrm>
            <a:off x="883920" y="3924300"/>
            <a:ext cx="426720" cy="4267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text 1"/>
          <p:cNvSpPr txBox="1"/>
          <p:nvPr/>
        </p:nvSpPr>
        <p:spPr>
          <a:xfrm>
            <a:off x="1000756" y="407502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8" name="SVG text 1"/>
          <p:cNvSpPr txBox="1"/>
          <p:nvPr/>
        </p:nvSpPr>
        <p:spPr>
          <a:xfrm>
            <a:off x="1478280" y="3928110"/>
            <a:ext cx="12039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478280" y="4208069"/>
            <a:ext cx="24798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检查层级、换行、密度、节奏与实际观感</a:t>
            </a:r>
          </a:p>
        </p:txBody>
      </p:sp>
      <p:sp>
        <p:nvSpPr>
          <p:cNvPr id="40" name="SVG circle"/>
          <p:cNvSpPr/>
          <p:nvPr/>
        </p:nvSpPr>
        <p:spPr>
          <a:xfrm>
            <a:off x="5760720" y="400050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VG text 1"/>
          <p:cNvSpPr txBox="1"/>
          <p:nvPr/>
        </p:nvSpPr>
        <p:spPr>
          <a:xfrm>
            <a:off x="5861505" y="409239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42" name="SVG rect"/>
          <p:cNvSpPr/>
          <p:nvPr/>
        </p:nvSpPr>
        <p:spPr>
          <a:xfrm>
            <a:off x="792480" y="461772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VG rect"/>
          <p:cNvSpPr/>
          <p:nvPr/>
        </p:nvSpPr>
        <p:spPr>
          <a:xfrm>
            <a:off x="731520" y="455676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SVG circle"/>
          <p:cNvSpPr/>
          <p:nvPr/>
        </p:nvSpPr>
        <p:spPr>
          <a:xfrm>
            <a:off x="883920" y="4655820"/>
            <a:ext cx="426720" cy="4267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text 1"/>
          <p:cNvSpPr txBox="1"/>
          <p:nvPr/>
        </p:nvSpPr>
        <p:spPr>
          <a:xfrm>
            <a:off x="1000756" y="480654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1478280" y="4659630"/>
            <a:ext cx="16041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9500"/>
                </a:solidFill>
                <a:latin typeface="Microsoft YaHei"/>
              </a:rPr>
              <a:t>编译并验证 PPTX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1478280" y="4939589"/>
            <a:ext cx="24798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检查对象映射、包结构、关系与失败计数</a:t>
            </a:r>
          </a:p>
        </p:txBody>
      </p:sp>
      <p:sp>
        <p:nvSpPr>
          <p:cNvPr id="48" name="SVG circle"/>
          <p:cNvSpPr/>
          <p:nvPr/>
        </p:nvSpPr>
        <p:spPr>
          <a:xfrm>
            <a:off x="5760720" y="473202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VG text 1"/>
          <p:cNvSpPr txBox="1"/>
          <p:nvPr/>
        </p:nvSpPr>
        <p:spPr>
          <a:xfrm>
            <a:off x="5861505" y="482391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0" name="SVG rect"/>
          <p:cNvSpPr/>
          <p:nvPr/>
        </p:nvSpPr>
        <p:spPr>
          <a:xfrm>
            <a:off x="792480" y="534924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rect"/>
          <p:cNvSpPr/>
          <p:nvPr/>
        </p:nvSpPr>
        <p:spPr>
          <a:xfrm>
            <a:off x="731520" y="528828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F5B5B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circle"/>
          <p:cNvSpPr/>
          <p:nvPr/>
        </p:nvSpPr>
        <p:spPr>
          <a:xfrm>
            <a:off x="883920" y="5387340"/>
            <a:ext cx="426720" cy="426720"/>
          </a:xfrm>
          <a:prstGeom prst="ellipse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text 1"/>
          <p:cNvSpPr txBox="1"/>
          <p:nvPr/>
        </p:nvSpPr>
        <p:spPr>
          <a:xfrm>
            <a:off x="1000756" y="5538064"/>
            <a:ext cx="20585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54" name="SVG text 1"/>
          <p:cNvSpPr txBox="1"/>
          <p:nvPr/>
        </p:nvSpPr>
        <p:spPr>
          <a:xfrm>
            <a:off x="1478280" y="5391150"/>
            <a:ext cx="179832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A3B42"/>
                </a:solidFill>
                <a:latin typeface="Microsoft YaHei"/>
              </a:rPr>
              <a:t>实际渲染与溢出检查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1478280" y="5671109"/>
            <a:ext cx="2389327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 PowerPoint 字体度量和对象边界</a:t>
            </a:r>
          </a:p>
        </p:txBody>
      </p:sp>
      <p:sp>
        <p:nvSpPr>
          <p:cNvPr id="56" name="SVG circle"/>
          <p:cNvSpPr/>
          <p:nvPr/>
        </p:nvSpPr>
        <p:spPr>
          <a:xfrm>
            <a:off x="5760720" y="546354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SVG text 1"/>
          <p:cNvSpPr txBox="1"/>
          <p:nvPr/>
        </p:nvSpPr>
        <p:spPr>
          <a:xfrm>
            <a:off x="5861505" y="5555437"/>
            <a:ext cx="8311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6599139" y="3349142"/>
            <a:ext cx="312895" cy="5852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840" b="1" i="0">
                <a:solidFill>
                  <a:srgbClr val="1263E6"/>
                </a:solidFill>
                <a:latin typeface="Microsoft YaHei"/>
              </a:rPr>
              <a:t>↺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6355690" y="4056278"/>
            <a:ext cx="775411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263E6"/>
                </a:solidFill>
                <a:latin typeface="Microsoft YaHei"/>
              </a:rPr>
              <a:t>回到源稿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6393180" y="4337609"/>
            <a:ext cx="6967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修订后重跑</a:t>
            </a:r>
          </a:p>
        </p:txBody>
      </p:sp>
      <p:sp>
        <p:nvSpPr>
          <p:cNvPr id="61" name="SVG rect"/>
          <p:cNvSpPr/>
          <p:nvPr/>
        </p:nvSpPr>
        <p:spPr>
          <a:xfrm>
            <a:off x="7711440" y="259080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DDE8F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SVG rect"/>
          <p:cNvSpPr/>
          <p:nvPr/>
        </p:nvSpPr>
        <p:spPr>
          <a:xfrm>
            <a:off x="7955280" y="288036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E7EFFB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rect"/>
          <p:cNvSpPr/>
          <p:nvPr/>
        </p:nvSpPr>
        <p:spPr>
          <a:xfrm>
            <a:off x="8199120" y="316992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SVG rect"/>
          <p:cNvSpPr/>
          <p:nvPr/>
        </p:nvSpPr>
        <p:spPr>
          <a:xfrm>
            <a:off x="8199120" y="3169920"/>
            <a:ext cx="3246120" cy="411480"/>
          </a:xfrm>
          <a:prstGeom prst="roundRect">
            <a:avLst>
              <a:gd name="adj" fmla="val 33333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SVG rect"/>
          <p:cNvSpPr/>
          <p:nvPr/>
        </p:nvSpPr>
        <p:spPr>
          <a:xfrm>
            <a:off x="8199120" y="3429000"/>
            <a:ext cx="324612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text 1"/>
          <p:cNvSpPr txBox="1"/>
          <p:nvPr/>
        </p:nvSpPr>
        <p:spPr>
          <a:xfrm>
            <a:off x="8458200" y="3330397"/>
            <a:ext cx="1455926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Microsoft YaHei"/>
              </a:rPr>
              <a:t>FINAL PPTX REVIEW</a:t>
            </a:r>
          </a:p>
        </p:txBody>
      </p:sp>
      <p:sp>
        <p:nvSpPr>
          <p:cNvPr id="67" name="SVG circle"/>
          <p:cNvSpPr/>
          <p:nvPr/>
        </p:nvSpPr>
        <p:spPr>
          <a:xfrm>
            <a:off x="11049000" y="3299460"/>
            <a:ext cx="152400" cy="1524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text 1"/>
          <p:cNvSpPr txBox="1"/>
          <p:nvPr/>
        </p:nvSpPr>
        <p:spPr>
          <a:xfrm>
            <a:off x="8458200" y="3763213"/>
            <a:ext cx="130027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质量检查结论</a:t>
            </a:r>
          </a:p>
        </p:txBody>
      </p:sp>
      <p:sp>
        <p:nvSpPr>
          <p:cNvPr id="69" name="SVG rect"/>
          <p:cNvSpPr/>
          <p:nvPr/>
        </p:nvSpPr>
        <p:spPr>
          <a:xfrm>
            <a:off x="8458200" y="4160520"/>
            <a:ext cx="1249680" cy="533400"/>
          </a:xfrm>
          <a:prstGeom prst="roundRect">
            <a:avLst>
              <a:gd name="adj" fmla="val 17142"/>
            </a:avLst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rect"/>
          <p:cNvSpPr/>
          <p:nvPr/>
        </p:nvSpPr>
        <p:spPr>
          <a:xfrm>
            <a:off x="9845040" y="4160520"/>
            <a:ext cx="1325880" cy="533400"/>
          </a:xfrm>
          <a:prstGeom prst="roundRect">
            <a:avLst>
              <a:gd name="adj" fmla="val 17142"/>
            </a:avLst>
          </a:prstGeom>
          <a:solidFill>
            <a:srgbClr val="EDF4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text 1"/>
          <p:cNvSpPr txBox="1"/>
          <p:nvPr/>
        </p:nvSpPr>
        <p:spPr>
          <a:xfrm>
            <a:off x="8628711" y="4261409"/>
            <a:ext cx="919630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DAA57"/>
                </a:solidFill>
                <a:latin typeface="Microsoft YaHei"/>
              </a:rPr>
              <a:t>PPTX VALID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8718341" y="4424782"/>
            <a:ext cx="745248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0A1B3E"/>
                </a:solidFill>
                <a:latin typeface="Microsoft YaHei"/>
              </a:rPr>
              <a:t>10 / 10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0221261" y="4261409"/>
            <a:ext cx="58441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263E6"/>
                </a:solidFill>
                <a:latin typeface="Microsoft YaHei"/>
              </a:rPr>
              <a:t>FAILED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448227" y="4424782"/>
            <a:ext cx="135356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0A1B3E"/>
                </a:solidFill>
                <a:latin typeface="Microsoft YaHei"/>
              </a:rPr>
              <a:t>0</a:t>
            </a:r>
          </a:p>
        </p:txBody>
      </p:sp>
      <p:cxnSp>
        <p:nvCxnSpPr>
          <p:cNvPr id="75" name="SVG line"/>
          <p:cNvCxnSpPr/>
          <p:nvPr/>
        </p:nvCxnSpPr>
        <p:spPr>
          <a:xfrm>
            <a:off x="8458200" y="4922520"/>
            <a:ext cx="2712720" cy="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76" name="SVG circle"/>
          <p:cNvSpPr/>
          <p:nvPr/>
        </p:nvSpPr>
        <p:spPr>
          <a:xfrm>
            <a:off x="8534400" y="5067300"/>
            <a:ext cx="182880" cy="1828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SVG text 1"/>
          <p:cNvSpPr txBox="1"/>
          <p:nvPr/>
        </p:nvSpPr>
        <p:spPr>
          <a:xfrm>
            <a:off x="8823960" y="5099609"/>
            <a:ext cx="19312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没有溢出、错误关系或静默丢失</a:t>
            </a:r>
          </a:p>
        </p:txBody>
      </p:sp>
      <p:sp>
        <p:nvSpPr>
          <p:cNvPr id="78" name="SVG rect"/>
          <p:cNvSpPr/>
          <p:nvPr/>
        </p:nvSpPr>
        <p:spPr>
          <a:xfrm>
            <a:off x="731520" y="6141720"/>
            <a:ext cx="10728960" cy="289560"/>
          </a:xfrm>
          <a:prstGeom prst="roundRect">
            <a:avLst>
              <a:gd name="adj" fmla="val 47368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SVG text 1"/>
          <p:cNvSpPr txBox="1"/>
          <p:nvPr/>
        </p:nvSpPr>
        <p:spPr>
          <a:xfrm>
            <a:off x="975360" y="6214872"/>
            <a:ext cx="5084064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3A73"/>
                </a:solidFill>
                <a:latin typeface="Microsoft YaHei"/>
              </a:rPr>
              <a:t>质量闭环的核心不是增加检查数量，而是让每个问题都能回到明确源头。</a:t>
            </a:r>
          </a:p>
        </p:txBody>
      </p:sp>
      <p:sp>
        <p:nvSpPr>
          <p:cNvPr id="80" name="SVG text 1"/>
          <p:cNvSpPr txBox="1"/>
          <p:nvPr/>
        </p:nvSpPr>
        <p:spPr>
          <a:xfrm>
            <a:off x="10578694" y="622736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08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5730240" cy="3657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0A1B3E"/>
                </a:solidFill>
                <a:latin typeface="Microsoft YaHei"/>
              </a:rPr>
              <a:t>指令、知识与工具分层，仓库因此可维护</a:t>
            </a:r>
            <a:endParaRPr sz="2400" b="1" i="0" dirty="0">
              <a:solidFill>
                <a:srgbClr val="0A1B3E"/>
              </a:solidFill>
              <a:latin typeface="Microsoft YaHei"/>
            </a:endParaRP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592562" y="533857"/>
            <a:ext cx="878281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REPOSITORY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#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74902"/>
            <a:ext cx="6910109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仓库结构就是产品边界：Agent 行为写进 Skill，确定性行为留在 scripts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4495800" cy="3200400"/>
          </a:xfrm>
          <a:prstGeom prst="roundRect">
            <a:avLst>
              <a:gd name="adj" fmla="val 5238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4495800" cy="3200400"/>
          </a:xfrm>
          <a:prstGeom prst="roundRect">
            <a:avLst>
              <a:gd name="adj" fmla="val 52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4495800" cy="533400"/>
          </a:xfrm>
          <a:prstGeom prst="roundRect">
            <a:avLst>
              <a:gd name="adj" fmla="val 31428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731520" y="2743200"/>
            <a:ext cx="449580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text 1"/>
          <p:cNvSpPr txBox="1"/>
          <p:nvPr/>
        </p:nvSpPr>
        <p:spPr>
          <a:xfrm>
            <a:off x="1005840" y="2561387"/>
            <a:ext cx="2868375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onsolas"/>
              </a:rPr>
              <a:t>.agents/skills/vectordeckppt/</a:t>
            </a:r>
          </a:p>
        </p:txBody>
      </p:sp>
      <p:cxnSp>
        <p:nvCxnSpPr>
          <p:cNvPr id="23" name="SVG line"/>
          <p:cNvCxnSpPr/>
          <p:nvPr/>
        </p:nvCxnSpPr>
        <p:spPr>
          <a:xfrm>
            <a:off x="1097280" y="3185160"/>
            <a:ext cx="0" cy="202692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4" name="SVG line"/>
          <p:cNvCxnSpPr/>
          <p:nvPr/>
        </p:nvCxnSpPr>
        <p:spPr>
          <a:xfrm>
            <a:off x="1097280" y="336804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5" name="SVG line"/>
          <p:cNvCxnSpPr/>
          <p:nvPr/>
        </p:nvCxnSpPr>
        <p:spPr>
          <a:xfrm>
            <a:off x="1097280" y="387096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6" name="SVG line"/>
          <p:cNvCxnSpPr/>
          <p:nvPr/>
        </p:nvCxnSpPr>
        <p:spPr>
          <a:xfrm>
            <a:off x="1097280" y="437388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7" name="SVG line"/>
          <p:cNvCxnSpPr/>
          <p:nvPr/>
        </p:nvCxnSpPr>
        <p:spPr>
          <a:xfrm>
            <a:off x="1097280" y="487680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28" name="SVG circle"/>
          <p:cNvSpPr/>
          <p:nvPr/>
        </p:nvSpPr>
        <p:spPr>
          <a:xfrm>
            <a:off x="1036320" y="3307080"/>
            <a:ext cx="121920" cy="1219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circle"/>
          <p:cNvSpPr/>
          <p:nvPr/>
        </p:nvSpPr>
        <p:spPr>
          <a:xfrm>
            <a:off x="1036320" y="3810000"/>
            <a:ext cx="121920" cy="1219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VG circle"/>
          <p:cNvSpPr/>
          <p:nvPr/>
        </p:nvSpPr>
        <p:spPr>
          <a:xfrm>
            <a:off x="1036320" y="4312920"/>
            <a:ext cx="121920" cy="1219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VG circle"/>
          <p:cNvSpPr/>
          <p:nvPr/>
        </p:nvSpPr>
        <p:spPr>
          <a:xfrm>
            <a:off x="1036320" y="4815840"/>
            <a:ext cx="121920" cy="1219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text 1"/>
          <p:cNvSpPr txBox="1"/>
          <p:nvPr/>
        </p:nvSpPr>
        <p:spPr>
          <a:xfrm>
            <a:off x="1661160" y="3269285"/>
            <a:ext cx="1119884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SKILL.md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1661160" y="3583229"/>
            <a:ext cx="206837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触发条件、完整工作流与职责边界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1661160" y="3772205"/>
            <a:ext cx="133512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references/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1661160" y="4086149"/>
            <a:ext cx="211637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叙事、艺术方向、SVG 与复审知识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1661160" y="4275125"/>
            <a:ext cx="975653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scripts/</a:t>
            </a:r>
          </a:p>
        </p:txBody>
      </p:sp>
      <p:sp>
        <p:nvSpPr>
          <p:cNvPr id="37" name="SVG text 1"/>
          <p:cNvSpPr txBox="1"/>
          <p:nvPr/>
        </p:nvSpPr>
        <p:spPr>
          <a:xfrm>
            <a:off x="1661160" y="4589069"/>
            <a:ext cx="193121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校验、渲染、编译与包验证工具</a:t>
            </a:r>
          </a:p>
        </p:txBody>
      </p:sp>
      <p:sp>
        <p:nvSpPr>
          <p:cNvPr id="38" name="SVG text 1"/>
          <p:cNvSpPr txBox="1"/>
          <p:nvPr/>
        </p:nvSpPr>
        <p:spPr>
          <a:xfrm>
            <a:off x="1661160" y="4778045"/>
            <a:ext cx="855830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assets/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661160" y="5091989"/>
            <a:ext cx="1794053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可复用主题、图标和项目资产</a:t>
            </a:r>
          </a:p>
        </p:txBody>
      </p:sp>
      <p:sp>
        <p:nvSpPr>
          <p:cNvPr id="40" name="SVG rect"/>
          <p:cNvSpPr/>
          <p:nvPr/>
        </p:nvSpPr>
        <p:spPr>
          <a:xfrm>
            <a:off x="5593080" y="242316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VG rect"/>
          <p:cNvSpPr/>
          <p:nvPr/>
        </p:nvSpPr>
        <p:spPr>
          <a:xfrm>
            <a:off x="5532120" y="236220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SVG circle"/>
          <p:cNvSpPr/>
          <p:nvPr/>
        </p:nvSpPr>
        <p:spPr>
          <a:xfrm>
            <a:off x="5699760" y="2636520"/>
            <a:ext cx="457200" cy="4572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SVG text 1"/>
          <p:cNvSpPr txBox="1"/>
          <p:nvPr/>
        </p:nvSpPr>
        <p:spPr>
          <a:xfrm>
            <a:off x="5867299" y="279760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6309360" y="2620213"/>
            <a:ext cx="1336652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1263E6"/>
                </a:solidFill>
                <a:latin typeface="Microsoft YaHei"/>
              </a:rPr>
              <a:t>Agent 做判断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6309360" y="2969514"/>
            <a:ext cx="17236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</a:rPr>
              <a:t>读资料、定叙事、定风格、做复审</a:t>
            </a:r>
          </a:p>
        </p:txBody>
      </p:sp>
      <p:sp>
        <p:nvSpPr>
          <p:cNvPr id="46" name="SVG rect"/>
          <p:cNvSpPr/>
          <p:nvPr/>
        </p:nvSpPr>
        <p:spPr>
          <a:xfrm>
            <a:off x="5593080" y="359664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rect"/>
          <p:cNvSpPr/>
          <p:nvPr/>
        </p:nvSpPr>
        <p:spPr>
          <a:xfrm>
            <a:off x="5532120" y="353568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SVG circle"/>
          <p:cNvSpPr/>
          <p:nvPr/>
        </p:nvSpPr>
        <p:spPr>
          <a:xfrm>
            <a:off x="5699760" y="3810000"/>
            <a:ext cx="457200" cy="45720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VG text 1"/>
          <p:cNvSpPr txBox="1"/>
          <p:nvPr/>
        </p:nvSpPr>
        <p:spPr>
          <a:xfrm>
            <a:off x="5867299" y="397108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50" name="SVG text 1"/>
          <p:cNvSpPr txBox="1"/>
          <p:nvPr/>
        </p:nvSpPr>
        <p:spPr>
          <a:xfrm>
            <a:off x="6309360" y="3793693"/>
            <a:ext cx="116119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12AABD"/>
                </a:solidFill>
                <a:latin typeface="Microsoft YaHei"/>
              </a:rPr>
              <a:t>SVG 做真源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6309360" y="4142994"/>
            <a:ext cx="17236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</a:rPr>
              <a:t>一页一源，所有可见元素同坐标系</a:t>
            </a:r>
          </a:p>
        </p:txBody>
      </p:sp>
      <p:sp>
        <p:nvSpPr>
          <p:cNvPr id="52" name="SVG rect"/>
          <p:cNvSpPr/>
          <p:nvPr/>
        </p:nvSpPr>
        <p:spPr>
          <a:xfrm>
            <a:off x="5593080" y="4770120"/>
            <a:ext cx="2758440" cy="853440"/>
          </a:xfrm>
          <a:prstGeom prst="roundRect">
            <a:avLst>
              <a:gd name="adj" fmla="val 17857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rect"/>
          <p:cNvSpPr/>
          <p:nvPr/>
        </p:nvSpPr>
        <p:spPr>
          <a:xfrm>
            <a:off x="5532120" y="4709160"/>
            <a:ext cx="2758440" cy="85344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circle"/>
          <p:cNvSpPr/>
          <p:nvPr/>
        </p:nvSpPr>
        <p:spPr>
          <a:xfrm>
            <a:off x="5699760" y="4907280"/>
            <a:ext cx="457200" cy="4572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text 1"/>
          <p:cNvSpPr txBox="1"/>
          <p:nvPr/>
        </p:nvSpPr>
        <p:spPr>
          <a:xfrm>
            <a:off x="5867299" y="506836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C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6309360" y="4890973"/>
            <a:ext cx="1086307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2DAA57"/>
                </a:solidFill>
                <a:latin typeface="Microsoft YaHei"/>
              </a:rPr>
              <a:t>脚本做执行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6309360" y="5240274"/>
            <a:ext cx="17236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</a:rPr>
              <a:t>只做可重复、可测试的确定性行为</a:t>
            </a:r>
          </a:p>
        </p:txBody>
      </p:sp>
      <p:sp>
        <p:nvSpPr>
          <p:cNvPr id="58" name="SVG rect"/>
          <p:cNvSpPr/>
          <p:nvPr/>
        </p:nvSpPr>
        <p:spPr>
          <a:xfrm>
            <a:off x="8686800" y="2423160"/>
            <a:ext cx="2834640" cy="3200400"/>
          </a:xfrm>
          <a:prstGeom prst="roundRect">
            <a:avLst>
              <a:gd name="adj" fmla="val 5913"/>
            </a:avLst>
          </a:prstGeom>
          <a:solidFill>
            <a:srgbClr val="DFE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rect"/>
          <p:cNvSpPr/>
          <p:nvPr/>
        </p:nvSpPr>
        <p:spPr>
          <a:xfrm>
            <a:off x="8625840" y="2362200"/>
            <a:ext cx="2834640" cy="3200400"/>
          </a:xfrm>
          <a:prstGeom prst="roundRect">
            <a:avLst>
              <a:gd name="adj" fmla="val 5913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SVG text 1"/>
          <p:cNvSpPr txBox="1"/>
          <p:nvPr/>
        </p:nvSpPr>
        <p:spPr>
          <a:xfrm>
            <a:off x="8930640" y="2618232"/>
            <a:ext cx="12865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FD6FF"/>
                </a:solidFill>
                <a:latin typeface="Microsoft YaHei"/>
              </a:rPr>
              <a:t>DELIVERABLES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930640" y="2930500"/>
            <a:ext cx="1247242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结构化输入</a:t>
            </a:r>
          </a:p>
        </p:txBody>
      </p:sp>
      <p:sp>
        <p:nvSpPr>
          <p:cNvPr id="62" name="SVG rect"/>
          <p:cNvSpPr/>
          <p:nvPr/>
        </p:nvSpPr>
        <p:spPr>
          <a:xfrm>
            <a:off x="8930640" y="333756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text 1"/>
          <p:cNvSpPr txBox="1"/>
          <p:nvPr/>
        </p:nvSpPr>
        <p:spPr>
          <a:xfrm>
            <a:off x="9144000" y="3486912"/>
            <a:ext cx="145767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10 × slide_NN.svg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8930640" y="3951580"/>
            <a:ext cx="1247242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确定性输出</a:t>
            </a:r>
          </a:p>
        </p:txBody>
      </p:sp>
      <p:sp>
        <p:nvSpPr>
          <p:cNvPr id="65" name="SVG rect"/>
          <p:cNvSpPr/>
          <p:nvPr/>
        </p:nvSpPr>
        <p:spPr>
          <a:xfrm>
            <a:off x="8930640" y="435864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SVG text 1"/>
          <p:cNvSpPr txBox="1"/>
          <p:nvPr/>
        </p:nvSpPr>
        <p:spPr>
          <a:xfrm>
            <a:off x="9144000" y="4507992"/>
            <a:ext cx="86807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7F24A"/>
                </a:solidFill>
                <a:latin typeface="Microsoft YaHei"/>
              </a:rPr>
              <a:t>final.pptx</a:t>
            </a:r>
          </a:p>
        </p:txBody>
      </p:sp>
      <p:sp>
        <p:nvSpPr>
          <p:cNvPr id="67" name="SVG rect"/>
          <p:cNvSpPr/>
          <p:nvPr/>
        </p:nvSpPr>
        <p:spPr>
          <a:xfrm>
            <a:off x="8930640" y="490728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text 1"/>
          <p:cNvSpPr txBox="1"/>
          <p:nvPr/>
        </p:nvSpPr>
        <p:spPr>
          <a:xfrm>
            <a:off x="9144000" y="5056632"/>
            <a:ext cx="198071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compilation-report.json</a:t>
            </a:r>
          </a:p>
        </p:txBody>
      </p:sp>
      <p:sp>
        <p:nvSpPr>
          <p:cNvPr id="69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text 1"/>
          <p:cNvSpPr txBox="1"/>
          <p:nvPr/>
        </p:nvSpPr>
        <p:spPr>
          <a:xfrm>
            <a:off x="1052346" y="6094324"/>
            <a:ext cx="102669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1432560" y="6067958"/>
            <a:ext cx="4925470" cy="21945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不引入 AI Provider SDK：边界清晰、可移植、可审查。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0578694" y="6105449"/>
            <a:ext cx="496519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circle"/>
          <p:cNvSpPr/>
          <p:nvPr/>
        </p:nvSpPr>
        <p:spPr>
          <a:xfrm>
            <a:off x="10820400" y="45720"/>
            <a:ext cx="1097280" cy="1097280"/>
          </a:xfrm>
          <a:prstGeom prst="ellipse">
            <a:avLst/>
          </a:prstGeom>
          <a:noFill/>
          <a:ln w="15240">
            <a:solidFill>
              <a:srgbClr val="E7F0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circle"/>
          <p:cNvSpPr/>
          <p:nvPr/>
        </p:nvSpPr>
        <p:spPr>
          <a:xfrm>
            <a:off x="10972800" y="198120"/>
            <a:ext cx="792480" cy="792480"/>
          </a:xfrm>
          <a:prstGeom prst="ellipse">
            <a:avLst/>
          </a:prstGeom>
          <a:noFill/>
          <a:ln w="15240">
            <a:solidFill>
              <a:srgbClr val="EEF5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1158240" y="213360"/>
            <a:ext cx="472440" cy="670560"/>
          </a:xfrm>
          <a:prstGeom prst="roundRect">
            <a:avLst>
              <a:gd name="adj" fmla="val 19354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rect"/>
          <p:cNvSpPr/>
          <p:nvPr/>
        </p:nvSpPr>
        <p:spPr>
          <a:xfrm>
            <a:off x="274320" y="213360"/>
            <a:ext cx="1143000" cy="670560"/>
          </a:xfrm>
          <a:prstGeom prst="roundRect">
            <a:avLst>
              <a:gd name="adj" fmla="val 1363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VG text 1"/>
          <p:cNvSpPr txBox="1"/>
          <p:nvPr/>
        </p:nvSpPr>
        <p:spPr>
          <a:xfrm>
            <a:off x="606808" y="368503"/>
            <a:ext cx="509723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120" b="1" i="0">
                <a:solidFill>
                  <a:srgbClr val="FFFFFF"/>
                </a:solidFill>
                <a:latin typeface="Microsoft YaHei"/>
              </a:rPr>
              <a:t>09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813560" y="440741"/>
            <a:ext cx="5356397" cy="34747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 dirty="0">
                <a:solidFill>
                  <a:srgbClr val="0A1B3E"/>
                </a:solidFill>
                <a:latin typeface="Microsoft YaHei"/>
              </a:rPr>
              <a:t>V1.1 </a:t>
            </a:r>
            <a:r>
              <a:rPr sz="2279" b="1" i="0" dirty="0" err="1">
                <a:solidFill>
                  <a:srgbClr val="0A1B3E"/>
                </a:solidFill>
                <a:latin typeface="Microsoft YaHei"/>
              </a:rPr>
              <a:t>已用可重复证据证明整条链路可行</a:t>
            </a:r>
            <a:endParaRPr sz="2279" b="1" i="0" dirty="0">
              <a:solidFill>
                <a:srgbClr val="0A1B3E"/>
              </a:solidFill>
              <a:latin typeface="Microsoft YaHei"/>
            </a:endParaRPr>
          </a:p>
        </p:txBody>
      </p:sp>
      <p:sp>
        <p:nvSpPr>
          <p:cNvPr id="9" name="SVG text 1"/>
          <p:cNvSpPr txBox="1"/>
          <p:nvPr/>
        </p:nvSpPr>
        <p:spPr>
          <a:xfrm>
            <a:off x="9274125" y="350215"/>
            <a:ext cx="226072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VectorDeckPPT · 工程证据</a:t>
            </a:r>
          </a:p>
        </p:txBody>
      </p:sp>
      <p:sp>
        <p:nvSpPr>
          <p:cNvPr id="10" name="SVG circle"/>
          <p:cNvSpPr/>
          <p:nvPr/>
        </p:nvSpPr>
        <p:spPr>
          <a:xfrm>
            <a:off x="107137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VG circle"/>
          <p:cNvSpPr/>
          <p:nvPr/>
        </p:nvSpPr>
        <p:spPr>
          <a:xfrm>
            <a:off x="108661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VG circle"/>
          <p:cNvSpPr/>
          <p:nvPr/>
        </p:nvSpPr>
        <p:spPr>
          <a:xfrm>
            <a:off x="110185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circle"/>
          <p:cNvSpPr/>
          <p:nvPr/>
        </p:nvSpPr>
        <p:spPr>
          <a:xfrm>
            <a:off x="111709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circle"/>
          <p:cNvSpPr/>
          <p:nvPr/>
        </p:nvSpPr>
        <p:spPr>
          <a:xfrm>
            <a:off x="113233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07137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circle"/>
          <p:cNvSpPr/>
          <p:nvPr/>
        </p:nvSpPr>
        <p:spPr>
          <a:xfrm>
            <a:off x="108661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VG circle"/>
          <p:cNvSpPr/>
          <p:nvPr/>
        </p:nvSpPr>
        <p:spPr>
          <a:xfrm>
            <a:off x="110185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VG circle"/>
          <p:cNvSpPr/>
          <p:nvPr/>
        </p:nvSpPr>
        <p:spPr>
          <a:xfrm>
            <a:off x="111709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circle"/>
          <p:cNvSpPr/>
          <p:nvPr/>
        </p:nvSpPr>
        <p:spPr>
          <a:xfrm>
            <a:off x="113233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274320" y="1036320"/>
            <a:ext cx="9753600" cy="38100"/>
          </a:xfrm>
          <a:prstGeom prst="roundRect">
            <a:avLst>
              <a:gd name="adj" fmla="val 4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10027920" y="1036320"/>
            <a:ext cx="1508760" cy="38100"/>
          </a:xfrm>
          <a:prstGeom prst="roundRect">
            <a:avLst>
              <a:gd name="adj" fmla="val 40000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rect"/>
          <p:cNvSpPr/>
          <p:nvPr/>
        </p:nvSpPr>
        <p:spPr>
          <a:xfrm>
            <a:off x="121920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VG rect"/>
          <p:cNvSpPr/>
          <p:nvPr/>
        </p:nvSpPr>
        <p:spPr>
          <a:xfrm>
            <a:off x="1219200" y="1402080"/>
            <a:ext cx="64770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VG circle"/>
          <p:cNvSpPr/>
          <p:nvPr/>
        </p:nvSpPr>
        <p:spPr>
          <a:xfrm>
            <a:off x="1516380" y="1524000"/>
            <a:ext cx="381000" cy="381000"/>
          </a:xfrm>
          <a:prstGeom prst="ellipse">
            <a:avLst/>
          </a:prstGeom>
          <a:solidFill>
            <a:srgbClr val="FFFFFF">
              <a:alpha val="16000"/>
            </a:srgbClr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text 1"/>
          <p:cNvSpPr txBox="1"/>
          <p:nvPr/>
        </p:nvSpPr>
        <p:spPr>
          <a:xfrm>
            <a:off x="1649108" y="1614373"/>
            <a:ext cx="132003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2057400" y="1617116"/>
            <a:ext cx="6222797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39" b="1" i="0" dirty="0" err="1">
                <a:solidFill>
                  <a:srgbClr val="FFFFFF"/>
                </a:solidFill>
                <a:latin typeface="Microsoft YaHei"/>
              </a:rPr>
              <a:t>测试、双安装路径、端到端示例与编译报告共同构成工程证据</a:t>
            </a:r>
            <a:endParaRPr sz="1739" b="1" i="0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27" name="SVG rect"/>
          <p:cNvSpPr/>
          <p:nvPr/>
        </p:nvSpPr>
        <p:spPr>
          <a:xfrm>
            <a:off x="640080" y="239268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rect"/>
          <p:cNvSpPr/>
          <p:nvPr/>
        </p:nvSpPr>
        <p:spPr>
          <a:xfrm>
            <a:off x="579120" y="233172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circle"/>
          <p:cNvSpPr/>
          <p:nvPr/>
        </p:nvSpPr>
        <p:spPr>
          <a:xfrm>
            <a:off x="792480" y="2545080"/>
            <a:ext cx="487680" cy="487680"/>
          </a:xfrm>
          <a:prstGeom prst="ellipse">
            <a:avLst/>
          </a:prstGeom>
          <a:solidFill>
            <a:srgbClr val="EAF2FF"/>
          </a:solidFill>
          <a:ln w="1524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VG text 1"/>
          <p:cNvSpPr txBox="1"/>
          <p:nvPr/>
        </p:nvSpPr>
        <p:spPr>
          <a:xfrm>
            <a:off x="969989" y="2679040"/>
            <a:ext cx="151559" cy="28346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1263E6"/>
                </a:solidFill>
                <a:latin typeface="Microsoft YaHei"/>
              </a:rPr>
              <a:t>✓</a:t>
            </a:r>
          </a:p>
        </p:txBody>
      </p:sp>
      <p:sp>
        <p:nvSpPr>
          <p:cNvPr id="31" name="SVG text 1"/>
          <p:cNvSpPr txBox="1"/>
          <p:nvPr/>
        </p:nvSpPr>
        <p:spPr>
          <a:xfrm>
            <a:off x="1402080" y="2585009"/>
            <a:ext cx="1397496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263E6"/>
                </a:solidFill>
                <a:latin typeface="Microsoft YaHei"/>
              </a:rPr>
              <a:t>AUTOMATED TESTS</a:t>
            </a:r>
          </a:p>
        </p:txBody>
      </p:sp>
      <p:sp>
        <p:nvSpPr>
          <p:cNvPr id="32" name="SVG text 1"/>
          <p:cNvSpPr txBox="1"/>
          <p:nvPr/>
        </p:nvSpPr>
        <p:spPr>
          <a:xfrm>
            <a:off x="1402080" y="2810866"/>
            <a:ext cx="646956" cy="6035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60" b="1" i="0">
                <a:solidFill>
                  <a:srgbClr val="0A1B3E"/>
                </a:solidFill>
                <a:latin typeface="Microsoft YaHei"/>
              </a:rPr>
              <a:t>65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2286000" y="3044190"/>
            <a:ext cx="609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项测试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822960" y="3443326"/>
            <a:ext cx="1945843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解析 · 校验 · 渲染 · 编译 · 端到端</a:t>
            </a:r>
          </a:p>
        </p:txBody>
      </p:sp>
      <p:sp>
        <p:nvSpPr>
          <p:cNvPr id="35" name="SVG rect"/>
          <p:cNvSpPr/>
          <p:nvPr/>
        </p:nvSpPr>
        <p:spPr>
          <a:xfrm>
            <a:off x="640080" y="409956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D9F4F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rect"/>
          <p:cNvSpPr/>
          <p:nvPr/>
        </p:nvSpPr>
        <p:spPr>
          <a:xfrm>
            <a:off x="579120" y="403860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9ADF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circle"/>
          <p:cNvSpPr/>
          <p:nvPr/>
        </p:nvSpPr>
        <p:spPr>
          <a:xfrm>
            <a:off x="792480" y="4251960"/>
            <a:ext cx="487680" cy="487680"/>
          </a:xfrm>
          <a:prstGeom prst="ellipse">
            <a:avLst/>
          </a:prstGeom>
          <a:solidFill>
            <a:srgbClr val="E6F8FA"/>
          </a:solidFill>
          <a:ln w="15240">
            <a:solidFill>
              <a:srgbClr val="12AAB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text 1"/>
          <p:cNvSpPr txBox="1"/>
          <p:nvPr/>
        </p:nvSpPr>
        <p:spPr>
          <a:xfrm>
            <a:off x="978548" y="4403293"/>
            <a:ext cx="132003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12AABD"/>
                </a:solidFill>
                <a:latin typeface="Microsoft YaHei"/>
              </a:rPr>
              <a:t>⇣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402080" y="4273144"/>
            <a:ext cx="1350825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2AABD"/>
                </a:solidFill>
                <a:latin typeface="Microsoft YaHei"/>
              </a:rPr>
              <a:t>INSTALLATION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1402080" y="4517746"/>
            <a:ext cx="343595" cy="6035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60" b="1" i="0">
                <a:solidFill>
                  <a:srgbClr val="0A1B3E"/>
                </a:solidFill>
                <a:latin typeface="Microsoft YaHei"/>
              </a:rPr>
              <a:t>2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1905000" y="4751070"/>
            <a:ext cx="100584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套安装路径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822960" y="5124602"/>
            <a:ext cx="390449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52647F"/>
                </a:solidFill>
                <a:latin typeface="Microsoft YaHei"/>
              </a:rPr>
              <a:t>uv sync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822960" y="5292242"/>
            <a:ext cx="1730350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52647F"/>
                </a:solidFill>
                <a:latin typeface="Microsoft YaHei"/>
              </a:rPr>
              <a:t>pip install -r requirements.txt</a:t>
            </a:r>
          </a:p>
        </p:txBody>
      </p:sp>
      <p:sp>
        <p:nvSpPr>
          <p:cNvPr id="44" name="SVG rect"/>
          <p:cNvSpPr/>
          <p:nvPr/>
        </p:nvSpPr>
        <p:spPr>
          <a:xfrm>
            <a:off x="3642360" y="2392680"/>
            <a:ext cx="3931920" cy="3139440"/>
          </a:xfrm>
          <a:prstGeom prst="roundRect">
            <a:avLst>
              <a:gd name="adj" fmla="val 5339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3581400" y="2331720"/>
            <a:ext cx="3931920" cy="3139440"/>
          </a:xfrm>
          <a:prstGeom prst="roundRect">
            <a:avLst>
              <a:gd name="adj" fmla="val 5339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text 1"/>
          <p:cNvSpPr txBox="1"/>
          <p:nvPr/>
        </p:nvSpPr>
        <p:spPr>
          <a:xfrm>
            <a:off x="3901440" y="2557272"/>
            <a:ext cx="1830141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END-TO-END EXAMPLE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3901440" y="2853690"/>
            <a:ext cx="25749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5 页可编辑示例完成闭环验证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3901440" y="3141269"/>
            <a:ext cx="2463394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647F"/>
                </a:solidFill>
                <a:latin typeface="Microsoft YaHei"/>
              </a:rPr>
              <a:t>校验 → 渲染 → 编译 → 重开 → 包结构检查</a:t>
            </a:r>
          </a:p>
        </p:txBody>
      </p:sp>
      <p:sp>
        <p:nvSpPr>
          <p:cNvPr id="49" name="SVG rect"/>
          <p:cNvSpPr/>
          <p:nvPr/>
        </p:nvSpPr>
        <p:spPr>
          <a:xfrm>
            <a:off x="4046220" y="38100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EAF2FF"/>
          </a:solidFill>
          <a:ln w="15240">
            <a:solidFill>
              <a:srgbClr val="9FC1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VG rect"/>
          <p:cNvSpPr/>
          <p:nvPr/>
        </p:nvSpPr>
        <p:spPr>
          <a:xfrm>
            <a:off x="4206240" y="36576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F3F7FF"/>
          </a:solidFill>
          <a:ln w="15240">
            <a:solidFill>
              <a:srgbClr val="9FC1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VG rect"/>
          <p:cNvSpPr/>
          <p:nvPr/>
        </p:nvSpPr>
        <p:spPr>
          <a:xfrm>
            <a:off x="4366260" y="35052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24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SVG rect"/>
          <p:cNvSpPr/>
          <p:nvPr/>
        </p:nvSpPr>
        <p:spPr>
          <a:xfrm>
            <a:off x="4533900" y="3672840"/>
            <a:ext cx="1295400" cy="175260"/>
          </a:xfrm>
          <a:prstGeom prst="roundRect">
            <a:avLst>
              <a:gd name="adj" fmla="val 2608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VG rect"/>
          <p:cNvSpPr/>
          <p:nvPr/>
        </p:nvSpPr>
        <p:spPr>
          <a:xfrm>
            <a:off x="4533900" y="3985260"/>
            <a:ext cx="579120" cy="3810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rect"/>
          <p:cNvSpPr/>
          <p:nvPr/>
        </p:nvSpPr>
        <p:spPr>
          <a:xfrm>
            <a:off x="5204460" y="3985260"/>
            <a:ext cx="624840" cy="381000"/>
          </a:xfrm>
          <a:prstGeom prst="roundRect">
            <a:avLst>
              <a:gd name="adj" fmla="val 16000"/>
            </a:avLst>
          </a:prstGeom>
          <a:solidFill>
            <a:srgbClr val="E6F8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circle"/>
          <p:cNvSpPr/>
          <p:nvPr/>
        </p:nvSpPr>
        <p:spPr>
          <a:xfrm>
            <a:off x="6210300" y="3611880"/>
            <a:ext cx="883920" cy="883920"/>
          </a:xfrm>
          <a:prstGeom prst="ellipse">
            <a:avLst/>
          </a:prstGeom>
          <a:solidFill>
            <a:srgbClr val="EAF7ED"/>
          </a:solidFill>
          <a:ln w="2286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SVG text 1"/>
          <p:cNvSpPr txBox="1"/>
          <p:nvPr/>
        </p:nvSpPr>
        <p:spPr>
          <a:xfrm>
            <a:off x="6553834" y="3888334"/>
            <a:ext cx="224894" cy="4206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6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6256020" y="4614672"/>
            <a:ext cx="8046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DAA57"/>
                </a:solidFill>
                <a:latin typeface="Microsoft YaHei"/>
              </a:rPr>
              <a:t>可重开验证</a:t>
            </a:r>
          </a:p>
        </p:txBody>
      </p:sp>
      <p:sp>
        <p:nvSpPr>
          <p:cNvPr id="58" name="SVG rect"/>
          <p:cNvSpPr/>
          <p:nvPr/>
        </p:nvSpPr>
        <p:spPr>
          <a:xfrm>
            <a:off x="3901440" y="5090160"/>
            <a:ext cx="3291840" cy="15240"/>
          </a:xfrm>
          <a:prstGeom prst="rect">
            <a:avLst/>
          </a:prstGeom>
          <a:solidFill>
            <a:srgbClr val="E1E9F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text 1"/>
          <p:cNvSpPr txBox="1"/>
          <p:nvPr/>
        </p:nvSpPr>
        <p:spPr>
          <a:xfrm>
            <a:off x="3901440" y="5198669"/>
            <a:ext cx="2686964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647F"/>
                </a:solidFill>
                <a:latin typeface="Microsoft YaHei"/>
              </a:rPr>
              <a:t>示例产物与报告可被 Agent 和人工共同审阅</a:t>
            </a:r>
          </a:p>
        </p:txBody>
      </p:sp>
      <p:sp>
        <p:nvSpPr>
          <p:cNvPr id="60" name="SVG rect"/>
          <p:cNvSpPr/>
          <p:nvPr/>
        </p:nvSpPr>
        <p:spPr>
          <a:xfrm>
            <a:off x="7924800" y="2392680"/>
            <a:ext cx="3688080" cy="3139440"/>
          </a:xfrm>
          <a:prstGeom prst="roundRect">
            <a:avLst>
              <a:gd name="adj" fmla="val 5339"/>
            </a:avLst>
          </a:prstGeom>
          <a:solidFill>
            <a:srgbClr val="9CBF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SVG rect"/>
          <p:cNvSpPr/>
          <p:nvPr/>
        </p:nvSpPr>
        <p:spPr>
          <a:xfrm>
            <a:off x="7863840" y="2331720"/>
            <a:ext cx="3688080" cy="3139440"/>
          </a:xfrm>
          <a:prstGeom prst="roundRect">
            <a:avLst>
              <a:gd name="adj" fmla="val 5339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SVG rect"/>
          <p:cNvSpPr/>
          <p:nvPr/>
        </p:nvSpPr>
        <p:spPr>
          <a:xfrm>
            <a:off x="8107680" y="2545080"/>
            <a:ext cx="1234440" cy="259080"/>
          </a:xfrm>
          <a:prstGeom prst="roundRect">
            <a:avLst>
              <a:gd name="adj" fmla="val 50000"/>
            </a:avLst>
          </a:prstGeom>
          <a:solidFill>
            <a:srgbClr val="16356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text 1"/>
          <p:cNvSpPr txBox="1"/>
          <p:nvPr/>
        </p:nvSpPr>
        <p:spPr>
          <a:xfrm>
            <a:off x="7981237" y="2620366"/>
            <a:ext cx="1497080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BFD6FF"/>
                </a:solidFill>
                <a:latin typeface="Microsoft YaHei"/>
              </a:rPr>
              <a:t>COMPILATION REPORT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8168640" y="2799588"/>
            <a:ext cx="784189" cy="7315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icrosoft YaHei"/>
              </a:rPr>
              <a:t>96</a:t>
            </a:r>
          </a:p>
        </p:txBody>
      </p:sp>
      <p:sp>
        <p:nvSpPr>
          <p:cNvPr id="65" name="SVG text 1"/>
          <p:cNvSpPr txBox="1"/>
          <p:nvPr/>
        </p:nvSpPr>
        <p:spPr>
          <a:xfrm>
            <a:off x="9296400" y="2918155"/>
            <a:ext cx="885139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个原生对象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9296400" y="3208477"/>
            <a:ext cx="1741018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AFC6E8"/>
                </a:solidFill>
                <a:latin typeface="Microsoft YaHei"/>
              </a:rPr>
              <a:t>native PowerPoint objects</a:t>
            </a:r>
          </a:p>
        </p:txBody>
      </p:sp>
      <p:sp>
        <p:nvSpPr>
          <p:cNvPr id="67" name="SVG rect"/>
          <p:cNvSpPr/>
          <p:nvPr/>
        </p:nvSpPr>
        <p:spPr>
          <a:xfrm>
            <a:off x="8168640" y="3596640"/>
            <a:ext cx="3078480" cy="15240"/>
          </a:xfrm>
          <a:prstGeom prst="rect">
            <a:avLst/>
          </a:prstGeom>
          <a:solidFill>
            <a:srgbClr val="294A7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rect"/>
          <p:cNvSpPr/>
          <p:nvPr/>
        </p:nvSpPr>
        <p:spPr>
          <a:xfrm>
            <a:off x="8168640" y="3870960"/>
            <a:ext cx="1356360" cy="670560"/>
          </a:xfrm>
          <a:prstGeom prst="roundRect">
            <a:avLst>
              <a:gd name="adj" fmla="val 18181"/>
            </a:avLst>
          </a:prstGeom>
          <a:solidFill>
            <a:srgbClr val="12315E"/>
          </a:solidFill>
          <a:ln w="1524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VG circle"/>
          <p:cNvSpPr/>
          <p:nvPr/>
        </p:nvSpPr>
        <p:spPr>
          <a:xfrm>
            <a:off x="8305800" y="4053840"/>
            <a:ext cx="304800" cy="3048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SVG text 1"/>
          <p:cNvSpPr txBox="1"/>
          <p:nvPr/>
        </p:nvSpPr>
        <p:spPr>
          <a:xfrm>
            <a:off x="8407640" y="4129735"/>
            <a:ext cx="11453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0</a:t>
            </a:r>
          </a:p>
        </p:txBody>
      </p:sp>
      <p:sp>
        <p:nvSpPr>
          <p:cNvPr id="71" name="SVG text 1"/>
          <p:cNvSpPr txBox="1"/>
          <p:nvPr/>
        </p:nvSpPr>
        <p:spPr>
          <a:xfrm>
            <a:off x="8686800" y="4054297"/>
            <a:ext cx="592361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Microsoft YaHei"/>
              </a:rPr>
              <a:t>fallback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8686800" y="4255922"/>
            <a:ext cx="648614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FC6E8"/>
                </a:solidFill>
                <a:latin typeface="Microsoft YaHei"/>
              </a:rPr>
              <a:t>无需整页嵌入</a:t>
            </a:r>
          </a:p>
        </p:txBody>
      </p:sp>
      <p:sp>
        <p:nvSpPr>
          <p:cNvPr id="73" name="SVG rect"/>
          <p:cNvSpPr/>
          <p:nvPr/>
        </p:nvSpPr>
        <p:spPr>
          <a:xfrm>
            <a:off x="9662160" y="3870960"/>
            <a:ext cx="1356360" cy="670560"/>
          </a:xfrm>
          <a:prstGeom prst="roundRect">
            <a:avLst>
              <a:gd name="adj" fmla="val 18181"/>
            </a:avLst>
          </a:prstGeom>
          <a:solidFill>
            <a:srgbClr val="12315E"/>
          </a:solidFill>
          <a:ln w="1524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SVG circle"/>
          <p:cNvSpPr/>
          <p:nvPr/>
        </p:nvSpPr>
        <p:spPr>
          <a:xfrm>
            <a:off x="9799320" y="4053840"/>
            <a:ext cx="304800" cy="3048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SVG text 1"/>
          <p:cNvSpPr txBox="1"/>
          <p:nvPr/>
        </p:nvSpPr>
        <p:spPr>
          <a:xfrm>
            <a:off x="9901160" y="4129735"/>
            <a:ext cx="114532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0</a:t>
            </a:r>
          </a:p>
        </p:txBody>
      </p:sp>
      <p:sp>
        <p:nvSpPr>
          <p:cNvPr id="76" name="SVG text 1"/>
          <p:cNvSpPr txBox="1"/>
          <p:nvPr/>
        </p:nvSpPr>
        <p:spPr>
          <a:xfrm>
            <a:off x="10180320" y="4054297"/>
            <a:ext cx="446861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Microsoft YaHei"/>
              </a:rPr>
              <a:t>failed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10180320" y="4255922"/>
            <a:ext cx="541934" cy="128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FC6E8"/>
                </a:solidFill>
                <a:latin typeface="Microsoft YaHei"/>
              </a:rPr>
              <a:t>无静默丢失</a:t>
            </a:r>
          </a:p>
        </p:txBody>
      </p:sp>
      <p:sp>
        <p:nvSpPr>
          <p:cNvPr id="78" name="SVG text 1"/>
          <p:cNvSpPr txBox="1"/>
          <p:nvPr/>
        </p:nvSpPr>
        <p:spPr>
          <a:xfrm>
            <a:off x="8168640" y="4778197"/>
            <a:ext cx="1531163" cy="1554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AFC6E8"/>
                </a:solidFill>
                <a:latin typeface="Microsoft YaHei"/>
              </a:rPr>
              <a:t>basic-deck 示例编译记录</a:t>
            </a:r>
          </a:p>
        </p:txBody>
      </p:sp>
      <p:sp>
        <p:nvSpPr>
          <p:cNvPr id="79" name="SVG text 1"/>
          <p:cNvSpPr txBox="1"/>
          <p:nvPr/>
        </p:nvSpPr>
        <p:spPr>
          <a:xfrm>
            <a:off x="8168640" y="5006035"/>
            <a:ext cx="200792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53DB74"/>
                </a:solidFill>
                <a:latin typeface="Microsoft YaHei"/>
              </a:rPr>
              <a:t>可编辑 · 可验证 · 可追溯</a:t>
            </a:r>
          </a:p>
        </p:txBody>
      </p:sp>
      <p:sp>
        <p:nvSpPr>
          <p:cNvPr id="80" name="SVG rect"/>
          <p:cNvSpPr/>
          <p:nvPr/>
        </p:nvSpPr>
        <p:spPr>
          <a:xfrm>
            <a:off x="792480" y="5867400"/>
            <a:ext cx="10759440" cy="640080"/>
          </a:xfrm>
          <a:prstGeom prst="roundRect">
            <a:avLst>
              <a:gd name="adj" fmla="val 21428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SVG circle"/>
          <p:cNvSpPr/>
          <p:nvPr/>
        </p:nvSpPr>
        <p:spPr>
          <a:xfrm>
            <a:off x="960120" y="597408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SVG text 1"/>
          <p:cNvSpPr txBox="1"/>
          <p:nvPr/>
        </p:nvSpPr>
        <p:spPr>
          <a:xfrm>
            <a:off x="1113569" y="6088685"/>
            <a:ext cx="136892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1539240" y="5981395"/>
            <a:ext cx="140817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A1B3E"/>
                </a:solidFill>
                <a:latin typeface="Microsoft YaHei"/>
              </a:rPr>
              <a:t>版本号不是终点：</a:t>
            </a:r>
          </a:p>
        </p:txBody>
      </p:sp>
      <p:sp>
        <p:nvSpPr>
          <p:cNvPr id="84" name="SVG text 1"/>
          <p:cNvSpPr txBox="1"/>
          <p:nvPr/>
        </p:nvSpPr>
        <p:spPr>
          <a:xfrm>
            <a:off x="1539240" y="6230112"/>
            <a:ext cx="443179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A6B"/>
                </a:solidFill>
                <a:latin typeface="Microsoft YaHei"/>
              </a:rPr>
              <a:t>证据链让每次扩展都能重新验证，而不是依赖一次性的演示成功。</a:t>
            </a:r>
          </a:p>
        </p:txBody>
      </p:sp>
      <p:sp>
        <p:nvSpPr>
          <p:cNvPr id="85" name="SVG text 1"/>
          <p:cNvSpPr txBox="1"/>
          <p:nvPr/>
        </p:nvSpPr>
        <p:spPr>
          <a:xfrm>
            <a:off x="10772632" y="6166409"/>
            <a:ext cx="51594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263E6"/>
                </a:solidFill>
                <a:latin typeface="Microsoft YaHe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VG circle"/>
          <p:cNvSpPr/>
          <p:nvPr/>
        </p:nvSpPr>
        <p:spPr>
          <a:xfrm>
            <a:off x="10820400" y="45720"/>
            <a:ext cx="1097280" cy="1097280"/>
          </a:xfrm>
          <a:prstGeom prst="ellipse">
            <a:avLst/>
          </a:prstGeom>
          <a:noFill/>
          <a:ln w="15240">
            <a:solidFill>
              <a:srgbClr val="E7F0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VG circle"/>
          <p:cNvSpPr/>
          <p:nvPr/>
        </p:nvSpPr>
        <p:spPr>
          <a:xfrm>
            <a:off x="10972800" y="198120"/>
            <a:ext cx="792480" cy="792480"/>
          </a:xfrm>
          <a:prstGeom prst="ellipse">
            <a:avLst/>
          </a:prstGeom>
          <a:noFill/>
          <a:ln w="15240">
            <a:solidFill>
              <a:srgbClr val="EEF5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SVG rect"/>
          <p:cNvSpPr/>
          <p:nvPr/>
        </p:nvSpPr>
        <p:spPr>
          <a:xfrm>
            <a:off x="1158240" y="213360"/>
            <a:ext cx="472440" cy="670560"/>
          </a:xfrm>
          <a:prstGeom prst="roundRect">
            <a:avLst>
              <a:gd name="adj" fmla="val 19354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VG rect"/>
          <p:cNvSpPr/>
          <p:nvPr/>
        </p:nvSpPr>
        <p:spPr>
          <a:xfrm>
            <a:off x="274320" y="213360"/>
            <a:ext cx="1143000" cy="670560"/>
          </a:xfrm>
          <a:prstGeom prst="roundRect">
            <a:avLst>
              <a:gd name="adj" fmla="val 1363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VG text 1"/>
          <p:cNvSpPr txBox="1"/>
          <p:nvPr/>
        </p:nvSpPr>
        <p:spPr>
          <a:xfrm>
            <a:off x="606808" y="368503"/>
            <a:ext cx="509723" cy="4754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120" b="1" i="0">
                <a:solidFill>
                  <a:srgbClr val="FFFFFF"/>
                </a:solidFill>
                <a:latin typeface="Microsoft YaHei"/>
              </a:rPr>
              <a:t>10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813560" y="478231"/>
            <a:ext cx="6160341" cy="35073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lang="zh-CN" altLang="en-US" sz="2279" b="1" dirty="0">
                <a:solidFill>
                  <a:srgbClr val="0A1B3E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一句调用，得到一套可继续维护的演示文稿资产</a:t>
            </a:r>
            <a:endParaRPr sz="2279" b="1" dirty="0">
              <a:solidFill>
                <a:srgbClr val="0A1B3E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9" name="SVG text 1"/>
          <p:cNvSpPr txBox="1"/>
          <p:nvPr/>
        </p:nvSpPr>
        <p:spPr>
          <a:xfrm>
            <a:off x="9274125" y="350215"/>
            <a:ext cx="226072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VectorDeckPPT · 开始使用</a:t>
            </a:r>
          </a:p>
        </p:txBody>
      </p:sp>
      <p:sp>
        <p:nvSpPr>
          <p:cNvPr id="10" name="SVG circle"/>
          <p:cNvSpPr/>
          <p:nvPr/>
        </p:nvSpPr>
        <p:spPr>
          <a:xfrm>
            <a:off x="107137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VG circle"/>
          <p:cNvSpPr/>
          <p:nvPr/>
        </p:nvSpPr>
        <p:spPr>
          <a:xfrm>
            <a:off x="108661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VG circle"/>
          <p:cNvSpPr/>
          <p:nvPr/>
        </p:nvSpPr>
        <p:spPr>
          <a:xfrm>
            <a:off x="110185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VG circle"/>
          <p:cNvSpPr/>
          <p:nvPr/>
        </p:nvSpPr>
        <p:spPr>
          <a:xfrm>
            <a:off x="111709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VG circle"/>
          <p:cNvSpPr/>
          <p:nvPr/>
        </p:nvSpPr>
        <p:spPr>
          <a:xfrm>
            <a:off x="113233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VG circle"/>
          <p:cNvSpPr/>
          <p:nvPr/>
        </p:nvSpPr>
        <p:spPr>
          <a:xfrm>
            <a:off x="107137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VG circle"/>
          <p:cNvSpPr/>
          <p:nvPr/>
        </p:nvSpPr>
        <p:spPr>
          <a:xfrm>
            <a:off x="108661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VG circle"/>
          <p:cNvSpPr/>
          <p:nvPr/>
        </p:nvSpPr>
        <p:spPr>
          <a:xfrm>
            <a:off x="110185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VG circle"/>
          <p:cNvSpPr/>
          <p:nvPr/>
        </p:nvSpPr>
        <p:spPr>
          <a:xfrm>
            <a:off x="111709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VG circle"/>
          <p:cNvSpPr/>
          <p:nvPr/>
        </p:nvSpPr>
        <p:spPr>
          <a:xfrm>
            <a:off x="113233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VG rect"/>
          <p:cNvSpPr/>
          <p:nvPr/>
        </p:nvSpPr>
        <p:spPr>
          <a:xfrm>
            <a:off x="274320" y="1036320"/>
            <a:ext cx="9753600" cy="38100"/>
          </a:xfrm>
          <a:prstGeom prst="roundRect">
            <a:avLst>
              <a:gd name="adj" fmla="val 4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VG rect"/>
          <p:cNvSpPr/>
          <p:nvPr/>
        </p:nvSpPr>
        <p:spPr>
          <a:xfrm>
            <a:off x="10027920" y="1036320"/>
            <a:ext cx="1508760" cy="38100"/>
          </a:xfrm>
          <a:prstGeom prst="roundRect">
            <a:avLst>
              <a:gd name="adj" fmla="val 40000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VG rect"/>
          <p:cNvSpPr/>
          <p:nvPr/>
        </p:nvSpPr>
        <p:spPr>
          <a:xfrm>
            <a:off x="121920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VG rect"/>
          <p:cNvSpPr/>
          <p:nvPr/>
        </p:nvSpPr>
        <p:spPr>
          <a:xfrm>
            <a:off x="1219200" y="1402080"/>
            <a:ext cx="64770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VG circle"/>
          <p:cNvSpPr/>
          <p:nvPr/>
        </p:nvSpPr>
        <p:spPr>
          <a:xfrm>
            <a:off x="1516380" y="1524000"/>
            <a:ext cx="381000" cy="381000"/>
          </a:xfrm>
          <a:prstGeom prst="ellipse">
            <a:avLst/>
          </a:prstGeom>
          <a:solidFill>
            <a:srgbClr val="FFFFFF">
              <a:alpha val="16000"/>
            </a:srgbClr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VG text 1"/>
          <p:cNvSpPr txBox="1"/>
          <p:nvPr/>
        </p:nvSpPr>
        <p:spPr>
          <a:xfrm>
            <a:off x="1653388" y="1626870"/>
            <a:ext cx="1222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▶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2057400" y="1642110"/>
            <a:ext cx="6436309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告诉 Agent 目标与资料，$vectordeckppt 会组织完整的向量优先工作流</a:t>
            </a:r>
          </a:p>
        </p:txBody>
      </p:sp>
      <p:sp>
        <p:nvSpPr>
          <p:cNvPr id="27" name="SVG rect"/>
          <p:cNvSpPr/>
          <p:nvPr/>
        </p:nvSpPr>
        <p:spPr>
          <a:xfrm>
            <a:off x="640080" y="2331720"/>
            <a:ext cx="6141720" cy="1356360"/>
          </a:xfrm>
          <a:prstGeom prst="roundRect">
            <a:avLst>
              <a:gd name="adj" fmla="val 12359"/>
            </a:avLst>
          </a:prstGeom>
          <a:solidFill>
            <a:srgbClr val="9CBF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VG rect"/>
          <p:cNvSpPr/>
          <p:nvPr/>
        </p:nvSpPr>
        <p:spPr>
          <a:xfrm>
            <a:off x="579120" y="2270760"/>
            <a:ext cx="6141720" cy="1356360"/>
          </a:xfrm>
          <a:prstGeom prst="roundRect">
            <a:avLst>
              <a:gd name="adj" fmla="val 12359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VG circle"/>
          <p:cNvSpPr/>
          <p:nvPr/>
        </p:nvSpPr>
        <p:spPr>
          <a:xfrm>
            <a:off x="807720" y="2461260"/>
            <a:ext cx="91440" cy="91440"/>
          </a:xfrm>
          <a:prstGeom prst="ellipse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VG circle"/>
          <p:cNvSpPr/>
          <p:nvPr/>
        </p:nvSpPr>
        <p:spPr>
          <a:xfrm>
            <a:off x="960120" y="2461260"/>
            <a:ext cx="91440" cy="9144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VG circle"/>
          <p:cNvSpPr/>
          <p:nvPr/>
        </p:nvSpPr>
        <p:spPr>
          <a:xfrm>
            <a:off x="1112520" y="2461260"/>
            <a:ext cx="91440" cy="9144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VG text 1"/>
          <p:cNvSpPr txBox="1"/>
          <p:nvPr/>
        </p:nvSpPr>
        <p:spPr>
          <a:xfrm>
            <a:off x="853440" y="2729636"/>
            <a:ext cx="1755112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53DB74"/>
                </a:solidFill>
                <a:latin typeface="Consolas"/>
              </a:rPr>
              <a:t>$vectordeckppt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853440" y="3112160"/>
            <a:ext cx="4042258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FFFFFF"/>
                </a:solidFill>
                <a:latin typeface="Microsoft YaHei"/>
              </a:rPr>
              <a:t>根据项目资料制作 10 页中文介绍，风格明亮科技、内容丰富，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853440" y="3340760"/>
            <a:ext cx="2671191" cy="1737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FFFFFF"/>
                </a:solidFill>
                <a:latin typeface="Microsoft YaHei"/>
              </a:rPr>
              <a:t>保留源 SVG、编译报告与可编辑 PPTX。</a:t>
            </a:r>
          </a:p>
        </p:txBody>
      </p:sp>
      <p:sp>
        <p:nvSpPr>
          <p:cNvPr id="35" name="SVG rect"/>
          <p:cNvSpPr/>
          <p:nvPr/>
        </p:nvSpPr>
        <p:spPr>
          <a:xfrm>
            <a:off x="64008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VG rect"/>
          <p:cNvSpPr/>
          <p:nvPr/>
        </p:nvSpPr>
        <p:spPr>
          <a:xfrm>
            <a:off x="57912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SVG circle"/>
          <p:cNvSpPr/>
          <p:nvPr/>
        </p:nvSpPr>
        <p:spPr>
          <a:xfrm>
            <a:off x="1059180" y="4046220"/>
            <a:ext cx="472440" cy="4724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SVG text 1"/>
          <p:cNvSpPr txBox="1"/>
          <p:nvPr/>
        </p:nvSpPr>
        <p:spPr>
          <a:xfrm>
            <a:off x="117129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946709" y="4625035"/>
            <a:ext cx="71079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输入资料</a:t>
            </a:r>
          </a:p>
        </p:txBody>
      </p:sp>
      <p:sp>
        <p:nvSpPr>
          <p:cNvPr id="40" name="SVG rect"/>
          <p:cNvSpPr/>
          <p:nvPr/>
        </p:nvSpPr>
        <p:spPr>
          <a:xfrm>
            <a:off x="883920" y="4930140"/>
            <a:ext cx="822960" cy="15240"/>
          </a:xfrm>
          <a:prstGeom prst="rect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SVG text 1"/>
          <p:cNvSpPr txBox="1"/>
          <p:nvPr/>
        </p:nvSpPr>
        <p:spPr>
          <a:xfrm>
            <a:off x="853440" y="5089246"/>
            <a:ext cx="89367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PRD · README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977189" y="5272126"/>
            <a:ext cx="646176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图片 · 数据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2132356" y="4524146"/>
            <a:ext cx="2640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40" b="1" i="0">
                <a:solidFill>
                  <a:srgbClr val="2C83F3"/>
                </a:solidFill>
                <a:latin typeface="Microsoft YaHei"/>
              </a:rPr>
              <a:t>→</a:t>
            </a:r>
          </a:p>
        </p:txBody>
      </p:sp>
      <p:sp>
        <p:nvSpPr>
          <p:cNvPr id="44" name="SVG rect"/>
          <p:cNvSpPr/>
          <p:nvPr/>
        </p:nvSpPr>
        <p:spPr>
          <a:xfrm>
            <a:off x="251460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9F4F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SVG rect"/>
          <p:cNvSpPr/>
          <p:nvPr/>
        </p:nvSpPr>
        <p:spPr>
          <a:xfrm>
            <a:off x="245364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9ADFE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SVG circle"/>
          <p:cNvSpPr/>
          <p:nvPr/>
        </p:nvSpPr>
        <p:spPr>
          <a:xfrm>
            <a:off x="2933700" y="4046220"/>
            <a:ext cx="472440" cy="47244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SVG text 1"/>
          <p:cNvSpPr txBox="1"/>
          <p:nvPr/>
        </p:nvSpPr>
        <p:spPr>
          <a:xfrm>
            <a:off x="304581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2790718" y="4625035"/>
            <a:ext cx="7718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AABD"/>
                </a:solidFill>
                <a:latin typeface="Microsoft YaHei"/>
              </a:rPr>
              <a:t>逐页 SVG</a:t>
            </a:r>
          </a:p>
        </p:txBody>
      </p:sp>
      <p:sp>
        <p:nvSpPr>
          <p:cNvPr id="49" name="SVG rect"/>
          <p:cNvSpPr/>
          <p:nvPr/>
        </p:nvSpPr>
        <p:spPr>
          <a:xfrm>
            <a:off x="2758440" y="4930140"/>
            <a:ext cx="822960" cy="15240"/>
          </a:xfrm>
          <a:prstGeom prst="rect">
            <a:avLst/>
          </a:prstGeom>
          <a:solidFill>
            <a:srgbClr val="9ADF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VG text 1"/>
          <p:cNvSpPr txBox="1"/>
          <p:nvPr/>
        </p:nvSpPr>
        <p:spPr>
          <a:xfrm>
            <a:off x="2851709" y="5089246"/>
            <a:ext cx="646176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叙事 · 版式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2926080" y="5272126"/>
            <a:ext cx="49743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设计系统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4006876" y="4524146"/>
            <a:ext cx="2640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40" b="1" i="0">
                <a:solidFill>
                  <a:srgbClr val="12AABD"/>
                </a:solidFill>
                <a:latin typeface="Microsoft YaHei"/>
              </a:rPr>
              <a:t>→</a:t>
            </a:r>
          </a:p>
        </p:txBody>
      </p:sp>
      <p:sp>
        <p:nvSpPr>
          <p:cNvPr id="53" name="SVG rect"/>
          <p:cNvSpPr/>
          <p:nvPr/>
        </p:nvSpPr>
        <p:spPr>
          <a:xfrm>
            <a:off x="438912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FF4E4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SVG rect"/>
          <p:cNvSpPr/>
          <p:nvPr/>
        </p:nvSpPr>
        <p:spPr>
          <a:xfrm>
            <a:off x="432816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A8DFB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VG circle"/>
          <p:cNvSpPr/>
          <p:nvPr/>
        </p:nvSpPr>
        <p:spPr>
          <a:xfrm>
            <a:off x="4808220" y="4046220"/>
            <a:ext cx="472440" cy="47244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SVG text 1"/>
          <p:cNvSpPr txBox="1"/>
          <p:nvPr/>
        </p:nvSpPr>
        <p:spPr>
          <a:xfrm>
            <a:off x="492033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4695749" y="4625035"/>
            <a:ext cx="71079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DAA57"/>
                </a:solidFill>
                <a:latin typeface="Microsoft YaHei"/>
              </a:rPr>
              <a:t>视觉复审</a:t>
            </a:r>
          </a:p>
        </p:txBody>
      </p:sp>
      <p:sp>
        <p:nvSpPr>
          <p:cNvPr id="58" name="SVG rect"/>
          <p:cNvSpPr/>
          <p:nvPr/>
        </p:nvSpPr>
        <p:spPr>
          <a:xfrm>
            <a:off x="4632960" y="4930140"/>
            <a:ext cx="822960" cy="15240"/>
          </a:xfrm>
          <a:prstGeom prst="rect">
            <a:avLst/>
          </a:prstGeom>
          <a:solidFill>
            <a:srgbClr val="A8DFB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SVG text 1"/>
          <p:cNvSpPr txBox="1"/>
          <p:nvPr/>
        </p:nvSpPr>
        <p:spPr>
          <a:xfrm>
            <a:off x="4604309" y="5089246"/>
            <a:ext cx="890016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缩略图 · 全尺寸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4739640" y="5272126"/>
            <a:ext cx="61935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修正再验证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5881396" y="4524146"/>
            <a:ext cx="264006" cy="4937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40" b="1" i="0">
                <a:solidFill>
                  <a:srgbClr val="2DAA57"/>
                </a:solidFill>
                <a:latin typeface="Microsoft YaHei"/>
              </a:rPr>
              <a:t>→</a:t>
            </a:r>
          </a:p>
        </p:txBody>
      </p:sp>
      <p:sp>
        <p:nvSpPr>
          <p:cNvPr id="62" name="SVG rect"/>
          <p:cNvSpPr/>
          <p:nvPr/>
        </p:nvSpPr>
        <p:spPr>
          <a:xfrm>
            <a:off x="626364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0D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SVG rect"/>
          <p:cNvSpPr/>
          <p:nvPr/>
        </p:nvSpPr>
        <p:spPr>
          <a:xfrm>
            <a:off x="620268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FFD27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SVG circle"/>
          <p:cNvSpPr/>
          <p:nvPr/>
        </p:nvSpPr>
        <p:spPr>
          <a:xfrm>
            <a:off x="6682740" y="4046220"/>
            <a:ext cx="472440" cy="47244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SVG text 1"/>
          <p:cNvSpPr txBox="1"/>
          <p:nvPr/>
        </p:nvSpPr>
        <p:spPr>
          <a:xfrm>
            <a:off x="6794858" y="4197553"/>
            <a:ext cx="264664" cy="2468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6570269" y="4625035"/>
            <a:ext cx="710794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E28A00"/>
                </a:solidFill>
                <a:latin typeface="Microsoft YaHei"/>
              </a:rPr>
              <a:t>编译交付</a:t>
            </a:r>
          </a:p>
        </p:txBody>
      </p:sp>
      <p:sp>
        <p:nvSpPr>
          <p:cNvPr id="67" name="SVG rect"/>
          <p:cNvSpPr/>
          <p:nvPr/>
        </p:nvSpPr>
        <p:spPr>
          <a:xfrm>
            <a:off x="6507480" y="4930140"/>
            <a:ext cx="822960" cy="15240"/>
          </a:xfrm>
          <a:prstGeom prst="rect">
            <a:avLst/>
          </a:prstGeom>
          <a:solidFill>
            <a:srgbClr val="FFD27C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SVG text 1"/>
          <p:cNvSpPr txBox="1"/>
          <p:nvPr/>
        </p:nvSpPr>
        <p:spPr>
          <a:xfrm>
            <a:off x="6559296" y="5089246"/>
            <a:ext cx="729082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PPTX · 报告</a:t>
            </a:r>
          </a:p>
        </p:txBody>
      </p:sp>
      <p:sp>
        <p:nvSpPr>
          <p:cNvPr id="69" name="SVG text 1"/>
          <p:cNvSpPr txBox="1"/>
          <p:nvPr/>
        </p:nvSpPr>
        <p:spPr>
          <a:xfrm>
            <a:off x="6614160" y="5272126"/>
            <a:ext cx="619354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可重新维护</a:t>
            </a:r>
          </a:p>
        </p:txBody>
      </p:sp>
      <p:sp>
        <p:nvSpPr>
          <p:cNvPr id="70" name="SVG rect"/>
          <p:cNvSpPr/>
          <p:nvPr/>
        </p:nvSpPr>
        <p:spPr>
          <a:xfrm>
            <a:off x="8001000" y="2331720"/>
            <a:ext cx="3611880" cy="3185160"/>
          </a:xfrm>
          <a:prstGeom prst="roundRect">
            <a:avLst>
              <a:gd name="adj" fmla="val 5263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VG rect"/>
          <p:cNvSpPr/>
          <p:nvPr/>
        </p:nvSpPr>
        <p:spPr>
          <a:xfrm>
            <a:off x="7940040" y="2270760"/>
            <a:ext cx="3611880" cy="31851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SVG text 1"/>
          <p:cNvSpPr txBox="1"/>
          <p:nvPr/>
        </p:nvSpPr>
        <p:spPr>
          <a:xfrm>
            <a:off x="8275320" y="2535784"/>
            <a:ext cx="2076420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263E6"/>
                </a:solidFill>
                <a:latin typeface="Microsoft YaHei"/>
              </a:rPr>
              <a:t>DELIVERABLE PACKAGE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8275320" y="2812085"/>
            <a:ext cx="2462345" cy="2560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Microsoft YaHei"/>
              </a:rPr>
              <a:t>交付的不只是一份 PPTX</a:t>
            </a:r>
          </a:p>
        </p:txBody>
      </p:sp>
      <p:sp>
        <p:nvSpPr>
          <p:cNvPr id="74" name="SVG rect"/>
          <p:cNvSpPr/>
          <p:nvPr/>
        </p:nvSpPr>
        <p:spPr>
          <a:xfrm>
            <a:off x="8275320" y="327660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SVG circle"/>
          <p:cNvSpPr/>
          <p:nvPr/>
        </p:nvSpPr>
        <p:spPr>
          <a:xfrm>
            <a:off x="8389620" y="3368040"/>
            <a:ext cx="365760" cy="36576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SVG text 1"/>
          <p:cNvSpPr txBox="1"/>
          <p:nvPr/>
        </p:nvSpPr>
        <p:spPr>
          <a:xfrm>
            <a:off x="8511439" y="3475787"/>
            <a:ext cx="136142" cy="210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P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8877300" y="3364992"/>
            <a:ext cx="143865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B3E"/>
                </a:solidFill>
                <a:latin typeface="Microsoft YaHei"/>
              </a:rPr>
              <a:t>可编辑 PowerPoint</a:t>
            </a:r>
          </a:p>
        </p:txBody>
      </p:sp>
      <p:sp>
        <p:nvSpPr>
          <p:cNvPr id="78" name="SVG text 1"/>
          <p:cNvSpPr txBox="1"/>
          <p:nvPr/>
        </p:nvSpPr>
        <p:spPr>
          <a:xfrm>
            <a:off x="8877300" y="3586734"/>
            <a:ext cx="16093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47F"/>
                </a:solidFill>
                <a:latin typeface="Microsoft YaHei"/>
              </a:rPr>
              <a:t>继续改文案、颜色、布局与对象</a:t>
            </a:r>
          </a:p>
        </p:txBody>
      </p:sp>
      <p:sp>
        <p:nvSpPr>
          <p:cNvPr id="79" name="SVG rect"/>
          <p:cNvSpPr/>
          <p:nvPr/>
        </p:nvSpPr>
        <p:spPr>
          <a:xfrm>
            <a:off x="8275320" y="393192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6F8F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SVG circle"/>
          <p:cNvSpPr/>
          <p:nvPr/>
        </p:nvSpPr>
        <p:spPr>
          <a:xfrm>
            <a:off x="8389620" y="4023360"/>
            <a:ext cx="365760" cy="36576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SVG text 1"/>
          <p:cNvSpPr txBox="1"/>
          <p:nvPr/>
        </p:nvSpPr>
        <p:spPr>
          <a:xfrm>
            <a:off x="8516749" y="4143604"/>
            <a:ext cx="124304" cy="1920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82" name="SVG text 1"/>
          <p:cNvSpPr txBox="1"/>
          <p:nvPr/>
        </p:nvSpPr>
        <p:spPr>
          <a:xfrm>
            <a:off x="8877300" y="4020312"/>
            <a:ext cx="860146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B3E"/>
                </a:solidFill>
                <a:latin typeface="Microsoft YaHei"/>
              </a:rPr>
              <a:t>逐页源 SVG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8877300" y="4242054"/>
            <a:ext cx="16093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47F"/>
                </a:solidFill>
                <a:latin typeface="Microsoft YaHei"/>
              </a:rPr>
              <a:t>视觉真源，方便追溯与再次编译</a:t>
            </a:r>
          </a:p>
        </p:txBody>
      </p:sp>
      <p:sp>
        <p:nvSpPr>
          <p:cNvPr id="84" name="SVG rect"/>
          <p:cNvSpPr/>
          <p:nvPr/>
        </p:nvSpPr>
        <p:spPr>
          <a:xfrm>
            <a:off x="8275320" y="458724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AF7E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SVG circle"/>
          <p:cNvSpPr/>
          <p:nvPr/>
        </p:nvSpPr>
        <p:spPr>
          <a:xfrm>
            <a:off x="8389620" y="4678680"/>
            <a:ext cx="365760" cy="36576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SVG text 1"/>
          <p:cNvSpPr txBox="1"/>
          <p:nvPr/>
        </p:nvSpPr>
        <p:spPr>
          <a:xfrm>
            <a:off x="8525427" y="4792675"/>
            <a:ext cx="107558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87" name="SVG text 1"/>
          <p:cNvSpPr txBox="1"/>
          <p:nvPr/>
        </p:nvSpPr>
        <p:spPr>
          <a:xfrm>
            <a:off x="8877300" y="4675632"/>
            <a:ext cx="1121664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B3E"/>
                </a:solidFill>
                <a:latin typeface="Microsoft YaHei"/>
              </a:rPr>
              <a:t>校验与编译报告</a:t>
            </a:r>
          </a:p>
        </p:txBody>
      </p:sp>
      <p:sp>
        <p:nvSpPr>
          <p:cNvPr id="88" name="SVG text 1"/>
          <p:cNvSpPr txBox="1"/>
          <p:nvPr/>
        </p:nvSpPr>
        <p:spPr>
          <a:xfrm>
            <a:off x="8877300" y="4897374"/>
            <a:ext cx="1495044" cy="137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47F"/>
                </a:solidFill>
                <a:latin typeface="Microsoft YaHei"/>
              </a:rPr>
              <a:t>把兼容性与失败信息显式交付</a:t>
            </a:r>
          </a:p>
        </p:txBody>
      </p:sp>
      <p:sp>
        <p:nvSpPr>
          <p:cNvPr id="89" name="SVG rect"/>
          <p:cNvSpPr/>
          <p:nvPr/>
        </p:nvSpPr>
        <p:spPr>
          <a:xfrm>
            <a:off x="792480" y="5867400"/>
            <a:ext cx="10759440" cy="640080"/>
          </a:xfrm>
          <a:prstGeom prst="roundRect">
            <a:avLst>
              <a:gd name="adj" fmla="val 21428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SVG circle"/>
          <p:cNvSpPr/>
          <p:nvPr/>
        </p:nvSpPr>
        <p:spPr>
          <a:xfrm>
            <a:off x="960120" y="5974080"/>
            <a:ext cx="426720" cy="426720"/>
          </a:xfrm>
          <a:prstGeom prst="ellipse">
            <a:avLst/>
          </a:prstGeom>
          <a:solidFill>
            <a:srgbClr val="1263E6"/>
          </a:solidFill>
          <a:ln w="15240">
            <a:solidFill>
              <a:srgbClr val="77A9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SVG text 1"/>
          <p:cNvSpPr txBox="1"/>
          <p:nvPr/>
        </p:nvSpPr>
        <p:spPr>
          <a:xfrm>
            <a:off x="1104455" y="6093562"/>
            <a:ext cx="153900" cy="23774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92" name="SVG text 1"/>
          <p:cNvSpPr txBox="1"/>
          <p:nvPr/>
        </p:nvSpPr>
        <p:spPr>
          <a:xfrm>
            <a:off x="1539240" y="6091428"/>
            <a:ext cx="310896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让创意可见，让交付可验证。</a:t>
            </a:r>
          </a:p>
        </p:txBody>
      </p:sp>
      <p:sp>
        <p:nvSpPr>
          <p:cNvPr id="93" name="SVG text 1"/>
          <p:cNvSpPr txBox="1"/>
          <p:nvPr/>
        </p:nvSpPr>
        <p:spPr>
          <a:xfrm>
            <a:off x="10772632" y="6166409"/>
            <a:ext cx="515941" cy="1645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77A9FF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853</Words>
  <Application>Microsoft Office PowerPoint</Application>
  <PresentationFormat>宽屏</PresentationFormat>
  <Paragraphs>353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Microsoft YaHei UI</vt:lpstr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Binfinity Cao</cp:lastModifiedBy>
  <cp:revision>3</cp:revision>
  <dcterms:created xsi:type="dcterms:W3CDTF">2013-01-27T09:14:16Z</dcterms:created>
  <dcterms:modified xsi:type="dcterms:W3CDTF">2026-08-09T13:54:25Z</dcterms:modified>
  <cp:category/>
</cp:coreProperties>
</file>